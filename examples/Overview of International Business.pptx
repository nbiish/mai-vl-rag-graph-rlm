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7"/>
  </p:notesMasterIdLst>
  <p:handoutMasterIdLst>
    <p:handoutMasterId r:id="rId18"/>
  </p:handoutMasterIdLst>
  <p:sldIdLst>
    <p:sldId id="309" r:id="rId2"/>
    <p:sldId id="261" r:id="rId3"/>
    <p:sldId id="317" r:id="rId4"/>
    <p:sldId id="275" r:id="rId5"/>
    <p:sldId id="308" r:id="rId6"/>
    <p:sldId id="318" r:id="rId7"/>
    <p:sldId id="314" r:id="rId8"/>
    <p:sldId id="262" r:id="rId9"/>
    <p:sldId id="315" r:id="rId10"/>
    <p:sldId id="311" r:id="rId11"/>
    <p:sldId id="313" r:id="rId12"/>
    <p:sldId id="270" r:id="rId13"/>
    <p:sldId id="316" r:id="rId14"/>
    <p:sldId id="273" r:id="rId15"/>
    <p:sldId id="319" r:id="rId16"/>
  </p:sldIdLst>
  <p:sldSz cx="9144000" cy="6858000" type="screen4x3"/>
  <p:notesSz cx="6858000" cy="92471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2" userDrawn="1">
          <p15:clr>
            <a:srgbClr val="A4A3A4"/>
          </p15:clr>
        </p15:guide>
        <p15:guide id="2" pos="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C"/>
    <a:srgbClr val="E3D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29" autoAdjust="0"/>
    <p:restoredTop sz="88837" autoAdjust="0"/>
  </p:normalViewPr>
  <p:slideViewPr>
    <p:cSldViewPr>
      <p:cViewPr varScale="1">
        <p:scale>
          <a:sx n="73" d="100"/>
          <a:sy n="73" d="100"/>
        </p:scale>
        <p:origin x="1013" y="53"/>
      </p:cViewPr>
      <p:guideLst>
        <p:guide orient="horz" pos="1632"/>
        <p:guide pos="96"/>
      </p:guideLst>
    </p:cSldViewPr>
  </p:slideViewPr>
  <p:outlineViewPr>
    <p:cViewPr>
      <p:scale>
        <a:sx n="33" d="100"/>
        <a:sy n="33" d="100"/>
      </p:scale>
      <p:origin x="264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22" y="-96"/>
      </p:cViewPr>
      <p:guideLst>
        <p:guide orient="horz" pos="2913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3C44773-B09F-4CC9-A077-CB7C9423BA26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83638"/>
            <a:ext cx="2971800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783638"/>
            <a:ext cx="2971800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4BCF688-8CAF-4026-AD8E-C426ECD8A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272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75E22EB-2129-4A56-889A-183FD4B27953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3738"/>
            <a:ext cx="4622800" cy="3467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92613"/>
            <a:ext cx="5486400" cy="4160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83638"/>
            <a:ext cx="2971800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83638"/>
            <a:ext cx="2971800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D433909-279E-4E4E-B9B8-72346F1DDF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661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418B77F-B7EC-400E-A809-DC342719A9D0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section, we will review several key trends and developments of the world economy.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433909-279E-4E4E-B9B8-72346F1DDF0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47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5791200"/>
            <a:ext cx="6400800" cy="876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57200" y="5029200"/>
            <a:ext cx="8229600" cy="990600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5400" b="1">
                <a:solidFill>
                  <a:srgbClr val="C00000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67400" y="6477000"/>
            <a:ext cx="2895600" cy="5143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dirty="0">
                <a:solidFill>
                  <a:srgbClr val="001F5C"/>
                </a:solidFill>
              </a:rPr>
              <a:t>Copyright © 2018 by the McGraw-Hill Companies, Inc. All rights reserved.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53BD3-8EA9-455E-876D-10C736ED24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3F182-0D19-422B-B048-D1447769D2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28800" y="396875"/>
            <a:ext cx="5334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6781800"/>
            <a:ext cx="9144000" cy="920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14400"/>
            <a:ext cx="9144000" cy="990600"/>
          </a:xfrm>
        </p:spPr>
        <p:txBody>
          <a:bodyPr>
            <a:normAutofit/>
          </a:bodyPr>
          <a:lstStyle>
            <a:lvl1pPr>
              <a:defRPr sz="48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000"/>
            <a:ext cx="91440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0053" y="6629400"/>
            <a:ext cx="4191000" cy="3317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2018 by the McGraw-Hill Companies, Inc. All rights reserved.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10400" y="6418263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#-</a:t>
            </a:r>
            <a:fld id="{F3248B06-4763-4245-B74A-9492697E46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74BB38-698C-405A-B187-7DA383DE6BF4}"/>
              </a:ext>
            </a:extLst>
          </p:cNvPr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6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2BDDE-39FC-4E92-98D1-4B1B8235B5BC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2DD6E755-0809-4C02-B925-7463A7C5E6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97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67242-FD57-47C7-AAE8-A0ED37CB53F8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7B059DDA-3297-498E-B0A5-9734F9046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8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3BF7A-5345-4A30-9A38-EF86FE5D94D8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36F5297F-F1A3-4840-84E3-8B712E45D4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12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732C6-CACF-4B1C-AD19-4582D8B3E021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9548105B-C8A3-46B6-845E-25FA9312F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96D6B1-83E3-4894-93FC-7C67112AEB0D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57708692-BBE0-4179-8DE5-1BFC48742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57F62-3E2A-4A11-8A3F-8CA9D7657704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7FEAFFBC-73AA-4A22-B793-20417B47E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1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62DC2-36BB-4F8A-8814-BEA03D95CB97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CFC42D11-D6BE-4F07-A150-2FFF9EA510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0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838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40D164-1D5D-47B9-B244-0D16CAA6E24C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89DF0D06-F5CC-4F5E-808F-2A5C2F6A9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0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EA34D-E008-4243-9AB5-A9A5F0616AF0}" type="datetimeFigureOut">
              <a:rPr lang="en-US"/>
              <a:pPr>
                <a:defRPr/>
              </a:pPr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#-</a:t>
            </a:r>
            <a:fld id="{9ACB7D3D-728E-4873-8E3A-A16F79E5B5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28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848" y="122727"/>
            <a:ext cx="8230306" cy="1295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6848" y="1719996"/>
            <a:ext cx="8230306" cy="4410808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6675" y="6248400"/>
            <a:ext cx="2135188" cy="457200"/>
          </a:xfrm>
          <a:prstGeom prst="rect">
            <a:avLst/>
          </a:prstGeom>
        </p:spPr>
        <p:txBody>
          <a:bodyPr lIns="103236" tIns="51618" rIns="103236" bIns="51618"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5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50292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Chapter Title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67400" y="6629400"/>
            <a:ext cx="2895600" cy="3619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dirty="0"/>
              <a:t>Copyright © 2018 by the McGraw-Hill Companies, Inc. All rights reserved.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#-</a:t>
            </a:r>
            <a:fld id="{5E6ADDC6-E138-4E00-8EB5-46BBFC9375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400" b="1" kern="1200">
          <a:solidFill>
            <a:srgbClr val="C05533"/>
          </a:solidFill>
          <a:latin typeface="Arial Narrow" panose="020B060602020203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400" b="1">
          <a:solidFill>
            <a:srgbClr val="C05533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61EB545-1673-4F04-9BFA-FC1F38887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90850"/>
            <a:ext cx="6400800" cy="876300"/>
          </a:xfrm>
        </p:spPr>
        <p:txBody>
          <a:bodyPr/>
          <a:lstStyle/>
          <a:p>
            <a:r>
              <a:rPr lang="en-US" dirty="0"/>
              <a:t>Overview of International Business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375ED-ECF6-4E34-BB59-377996A4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INTB 440</a:t>
            </a:r>
            <a:br>
              <a:rPr lang="en-US" dirty="0"/>
            </a:br>
            <a:r>
              <a:rPr lang="en-US" dirty="0"/>
              <a:t>International Finance</a:t>
            </a:r>
          </a:p>
        </p:txBody>
      </p:sp>
    </p:spTree>
    <p:extLst>
      <p:ext uri="{BB962C8B-B14F-4D97-AF65-F5344CB8AC3E}">
        <p14:creationId xmlns:p14="http://schemas.microsoft.com/office/powerpoint/2010/main" val="422895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36537"/>
            <a:ext cx="8229600" cy="990600"/>
          </a:xfrm>
        </p:spPr>
        <p:txBody>
          <a:bodyPr lIns="91435" tIns="45718" rIns="91435" bIns="45718"/>
          <a:lstStyle/>
          <a:p>
            <a:pPr eaLnBrk="1" hangingPunct="1"/>
            <a:r>
              <a:rPr lang="en-US" altLang="en-US" dirty="0"/>
              <a:t>Overview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marL="0" indent="0" defTabSz="1031875" eaLnBrk="1" hangingPunct="1">
              <a:buNone/>
            </a:pPr>
            <a:r>
              <a:rPr lang="en-US" altLang="en-US" dirty="0"/>
              <a:t>1. Globalization </a:t>
            </a:r>
          </a:p>
          <a:p>
            <a:pPr marL="385763" indent="-385763" defTabSz="1031875" eaLnBrk="1" hangingPunct="1"/>
            <a:endParaRPr lang="en-US" altLang="en-US" sz="2800" dirty="0"/>
          </a:p>
          <a:p>
            <a:pPr marL="0" indent="0" defTabSz="1031875" eaLnBrk="1" hangingPunct="1">
              <a:buNone/>
            </a:pPr>
            <a:r>
              <a:rPr lang="en-US" altLang="en-US" dirty="0"/>
              <a:t>2. Multinational corporations (MNCs)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F63C07-807C-4C62-BA6F-8D8A2B2E90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defTabSz="1031875" eaLnBrk="1" hangingPunct="1">
              <a:buNone/>
            </a:pPr>
            <a:r>
              <a:rPr lang="en-US" altLang="en-US" dirty="0"/>
              <a:t>3. Features of </a:t>
            </a:r>
            <a:r>
              <a:rPr lang="en-US" altLang="en-US" i="1" dirty="0"/>
              <a:t>international</a:t>
            </a:r>
            <a:r>
              <a:rPr lang="en-US" altLang="en-US" dirty="0"/>
              <a:t> finance</a:t>
            </a:r>
          </a:p>
          <a:p>
            <a:pPr marL="385763" indent="-385763" defTabSz="1031875" eaLnBrk="1" hangingPunct="1"/>
            <a:endParaRPr lang="en-US" altLang="en-US" dirty="0"/>
          </a:p>
          <a:p>
            <a:pPr marL="0" indent="0" defTabSz="1031875" eaLnBrk="1" hangingPunct="1">
              <a:buNone/>
            </a:pPr>
            <a:r>
              <a:rPr lang="en-US" altLang="en-US" dirty="0"/>
              <a:t>4. Goals for international financial management</a:t>
            </a:r>
          </a:p>
          <a:p>
            <a:pPr marL="385763" indent="-385763" defTabSz="1031875" eaLnBrk="1" hangingPunct="1"/>
            <a:endParaRPr lang="en-US" altLang="en-US" dirty="0"/>
          </a:p>
          <a:p>
            <a:endParaRPr lang="en-US" dirty="0"/>
          </a:p>
        </p:txBody>
      </p:sp>
      <p:sp>
        <p:nvSpPr>
          <p:cNvPr id="15364" name="Rectangle 20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 dirty="0">
                <a:cs typeface="Arial" charset="0"/>
              </a:rPr>
              <a:t>1-</a:t>
            </a:r>
            <a:fld id="{2F7192D0-E742-48DA-88B7-093C6CB40A7E}" type="slidenum">
              <a:rPr lang="en-US" altLang="en-US" sz="900">
                <a:cs typeface="Arial" charset="0"/>
              </a:rPr>
              <a:pPr algn="r" eaLnBrk="1" hangingPunct="1"/>
              <a:t>2</a:t>
            </a:fld>
            <a:endParaRPr lang="en-US" altLang="en-US" sz="1000" dirty="0"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9FAA35-2332-44E2-BEFE-55F3EE77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7037"/>
            <a:ext cx="9144000" cy="990600"/>
          </a:xfrm>
        </p:spPr>
        <p:txBody>
          <a:bodyPr/>
          <a:lstStyle/>
          <a:p>
            <a:r>
              <a:rPr lang="en-US" dirty="0"/>
              <a:t>Globalization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B1956-A357-436E-B55D-C92BB06FA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/>
          <a:lstStyle/>
          <a:p>
            <a:r>
              <a:rPr lang="en-US" dirty="0"/>
              <a:t>Econ 201: specialization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→ trade → wealth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6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Global markets allow for largest possible “extent of the market”</a:t>
            </a:r>
          </a:p>
          <a:p>
            <a:pPr lvl="6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Globalization creates HUGE opportunities for the gains from trade due to specialization + division of labor</a:t>
            </a:r>
          </a:p>
          <a:p>
            <a:pPr lvl="6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Globalization is NOT NEW! Ancient civilizations engaged in foreign trade…</a:t>
            </a:r>
          </a:p>
          <a:p>
            <a:pPr lvl="6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Industrial + Information revolutions have led to expanding interconnectedness</a:t>
            </a:r>
          </a:p>
          <a:p>
            <a:pPr lvl="7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Drastically lower costs of transportation &amp; communication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Adam Smith - Wikipedia">
            <a:extLst>
              <a:ext uri="{FF2B5EF4-FFF2-40B4-BE49-F238E27FC236}">
                <a16:creationId xmlns:a16="http://schemas.microsoft.com/office/drawing/2014/main" id="{CD81DE80-67F7-4446-A0CC-DC980F6CA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05806"/>
            <a:ext cx="1885950" cy="24288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EBA4C6B-9D02-4155-B90C-D8E11799D8FD}"/>
              </a:ext>
            </a:extLst>
          </p:cNvPr>
          <p:cNvSpPr/>
          <p:nvPr/>
        </p:nvSpPr>
        <p:spPr>
          <a:xfrm>
            <a:off x="2362200" y="1981200"/>
            <a:ext cx="5486400" cy="990600"/>
          </a:xfrm>
          <a:prstGeom prst="wedgeRoundRectCallout">
            <a:avLst>
              <a:gd name="adj1" fmla="val -61085"/>
              <a:gd name="adj2" fmla="val 2854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“the division of labor is limited by the extent of the market” </a:t>
            </a:r>
          </a:p>
          <a:p>
            <a:pPr algn="ctr"/>
            <a:r>
              <a:rPr lang="en-US" dirty="0"/>
              <a:t>-Adam Smith, </a:t>
            </a:r>
            <a:r>
              <a:rPr lang="en-US" i="1" dirty="0"/>
              <a:t>Wealth of Nations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8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81000" y="2347641"/>
            <a:ext cx="8458200" cy="43571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Brexit</a:t>
            </a:r>
          </a:p>
          <a:p>
            <a:pPr eaLnBrk="1" hangingPunct="1"/>
            <a:r>
              <a:rPr lang="en-US" altLang="en-US" sz="2800" dirty="0"/>
              <a:t>Trade Wars</a:t>
            </a:r>
          </a:p>
          <a:p>
            <a:pPr eaLnBrk="1" hangingPunct="1"/>
            <a:r>
              <a:rPr lang="en-US" altLang="en-US" sz="2800" dirty="0"/>
              <a:t>Emergence of Globalized Financial Markets</a:t>
            </a:r>
          </a:p>
          <a:p>
            <a:pPr eaLnBrk="1" hangingPunct="1"/>
            <a:r>
              <a:rPr lang="en-US" altLang="en-US" sz="2800" dirty="0"/>
              <a:t>Emergence of the Euro as a Global Currency</a:t>
            </a:r>
          </a:p>
          <a:p>
            <a:pPr eaLnBrk="1" hangingPunct="1"/>
            <a:r>
              <a:rPr lang="en-US" altLang="en-US" sz="2800" dirty="0"/>
              <a:t>Europe’s Sovereign Debt Crisis of 2010</a:t>
            </a:r>
          </a:p>
          <a:p>
            <a:pPr eaLnBrk="1" hangingPunct="1"/>
            <a:r>
              <a:rPr lang="en-US" altLang="en-US" sz="2800" dirty="0"/>
              <a:t>Trade Liberalization and Economic Integration</a:t>
            </a:r>
          </a:p>
          <a:p>
            <a:pPr eaLnBrk="1" hangingPunct="1"/>
            <a:r>
              <a:rPr lang="en-US" altLang="en-US" sz="2800" dirty="0"/>
              <a:t>Privatization </a:t>
            </a:r>
          </a:p>
          <a:p>
            <a:pPr eaLnBrk="1" hangingPunct="1"/>
            <a:r>
              <a:rPr lang="en-US" altLang="en-US" sz="2800" dirty="0"/>
              <a:t>Global Financial Crisis of 2008-2009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85F5B474-8F8B-42AD-B884-1204A683F08E}" type="slidenum">
              <a:rPr lang="en-US" altLang="en-US" sz="900">
                <a:cs typeface="Arial" charset="0"/>
              </a:rPr>
              <a:pPr algn="r" eaLnBrk="1" hangingPunct="1"/>
              <a:t>4</a:t>
            </a:fld>
            <a:endParaRPr lang="en-US" altLang="en-US" sz="1000"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3600" dirty="0"/>
              <a:t>Globalization of the World Economy: Major Trends and Developments</a:t>
            </a:r>
            <a:endParaRPr lang="en-US" sz="3600" dirty="0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D8315C21-F66C-4EAC-B743-98132C3F07B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1" tIns="46036" rIns="92071" bIns="46036">
            <a:noAutofit/>
          </a:bodyPr>
          <a:lstStyle/>
          <a:p>
            <a:pPr eaLnBrk="1" hangingPunct="1">
              <a:defRPr/>
            </a:pPr>
            <a:r>
              <a:rPr lang="en-US" altLang="en-US" sz="4000" dirty="0"/>
              <a:t>Multinational Corporations </a:t>
            </a:r>
            <a:br>
              <a:rPr lang="en-US" altLang="en-US" sz="2000" dirty="0"/>
            </a:br>
            <a:endParaRPr lang="en-US" altLang="en-US" sz="2000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676400"/>
            <a:ext cx="8382000" cy="4754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marL="385763" indent="-385763" defTabSz="1031875" eaLnBrk="1" hangingPunct="1">
              <a:lnSpc>
                <a:spcPct val="90000"/>
              </a:lnSpc>
            </a:pPr>
            <a:r>
              <a:rPr lang="en-US" altLang="en-US" sz="2800" dirty="0"/>
              <a:t>A </a:t>
            </a:r>
            <a:r>
              <a:rPr lang="en-US" altLang="en-US" sz="2800" b="1" dirty="0"/>
              <a:t>multinational corporation (MNC) </a:t>
            </a:r>
            <a:r>
              <a:rPr lang="en-US" altLang="en-US" sz="2800" dirty="0"/>
              <a:t>is a firm that has been incorporated in one country and has production and sales operations in other countries</a:t>
            </a:r>
          </a:p>
          <a:p>
            <a:pPr marL="785813" lvl="1" indent="-385763" defTabSz="1031875" eaLnBrk="1" hangingPunct="1">
              <a:lnSpc>
                <a:spcPct val="90000"/>
              </a:lnSpc>
            </a:pPr>
            <a:r>
              <a:rPr lang="en-US" altLang="en-US" sz="2400" dirty="0"/>
              <a:t>Approximately 60,000 MNCs in the world with over 500,000 foreign affiliates</a:t>
            </a:r>
          </a:p>
          <a:p>
            <a:pPr marL="385763" indent="-385763" defTabSz="1031875" eaLnBrk="1" hangingPunct="1">
              <a:lnSpc>
                <a:spcPct val="90000"/>
              </a:lnSpc>
            </a:pPr>
            <a:r>
              <a:rPr lang="en-US" altLang="en-US" sz="2800" dirty="0"/>
              <a:t>Benefit from the economy of scale in many ways:</a:t>
            </a:r>
          </a:p>
          <a:p>
            <a:pPr marL="785813" lvl="1" indent="-385763" defTabSz="1031875" eaLnBrk="1" hangingPunct="1">
              <a:lnSpc>
                <a:spcPct val="90000"/>
              </a:lnSpc>
            </a:pPr>
            <a:r>
              <a:rPr lang="en-US" altLang="en-US" sz="2400" dirty="0"/>
              <a:t>Spreading R&amp;D expenditures and advertising costs over their global sales</a:t>
            </a:r>
          </a:p>
          <a:p>
            <a:pPr marL="785813" lvl="1" indent="-385763" defTabSz="1031875" eaLnBrk="1" hangingPunct="1">
              <a:lnSpc>
                <a:spcPct val="90000"/>
              </a:lnSpc>
            </a:pPr>
            <a:r>
              <a:rPr lang="en-US" altLang="en-US" sz="2400" dirty="0"/>
              <a:t>Pooling global purchasing power over suppliers</a:t>
            </a:r>
          </a:p>
          <a:p>
            <a:pPr marL="785813" lvl="1" indent="-385763" defTabSz="1031875" eaLnBrk="1" hangingPunct="1">
              <a:lnSpc>
                <a:spcPct val="90000"/>
              </a:lnSpc>
            </a:pPr>
            <a:r>
              <a:rPr lang="en-US" altLang="en-US" sz="2400" dirty="0"/>
              <a:t>Utilizing their technological and managerial know-how globally with minimum additional costs</a:t>
            </a:r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147581B3-84EC-4B17-A0C0-59CD38C6CCE4}" type="slidenum">
              <a:rPr lang="en-US" altLang="en-US" sz="900">
                <a:cs typeface="Arial" charset="0"/>
              </a:rPr>
              <a:pPr algn="r" eaLnBrk="1" hangingPunct="1"/>
              <a:t>5</a:t>
            </a:fld>
            <a:endParaRPr lang="en-US" altLang="en-US" sz="1000">
              <a:cs typeface="Arial" charset="0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45BEAE14-5BA2-4641-B757-920594F7D02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066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id="{94AFC98D-738D-4E41-A489-0FA15E797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023" y="2956939"/>
            <a:ext cx="2503977" cy="94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1665"/>
            <a:ext cx="9144000" cy="990600"/>
          </a:xfrm>
        </p:spPr>
        <p:txBody>
          <a:bodyPr lIns="92071" tIns="46036" rIns="92071" bIns="46036">
            <a:noAutofit/>
          </a:bodyPr>
          <a:lstStyle/>
          <a:p>
            <a:pPr eaLnBrk="1" hangingPunct="1">
              <a:defRPr/>
            </a:pPr>
            <a:r>
              <a:rPr lang="en-US" altLang="en-US" sz="4000" dirty="0"/>
              <a:t>Multinational Corporations </a:t>
            </a:r>
            <a:br>
              <a:rPr lang="en-US" altLang="en-US" sz="2000" dirty="0"/>
            </a:br>
            <a:endParaRPr lang="en-US" altLang="en-US" sz="2000" dirty="0"/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147581B3-84EC-4B17-A0C0-59CD38C6CCE4}" type="slidenum">
              <a:rPr lang="en-US" altLang="en-US" sz="900">
                <a:cs typeface="Arial" charset="0"/>
              </a:rPr>
              <a:pPr algn="r" eaLnBrk="1" hangingPunct="1"/>
              <a:t>6</a:t>
            </a:fld>
            <a:endParaRPr lang="en-US" altLang="en-US" sz="1000">
              <a:cs typeface="Arial" charset="0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45BEAE14-5BA2-4641-B757-920594F7D02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2050" name="Picture 2" descr="Unilever - Wikipedia">
            <a:extLst>
              <a:ext uri="{FF2B5EF4-FFF2-40B4-BE49-F238E27FC236}">
                <a16:creationId xmlns:a16="http://schemas.microsoft.com/office/drawing/2014/main" id="{2974346B-C33F-4AD9-BF55-F9C7A20EDA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88" y="1781011"/>
            <a:ext cx="1420291" cy="157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 Data Indicates Shopping at ALDI is Simpler, Faster and More  Cost-Effective">
            <a:extLst>
              <a:ext uri="{FF2B5EF4-FFF2-40B4-BE49-F238E27FC236}">
                <a16:creationId xmlns:a16="http://schemas.microsoft.com/office/drawing/2014/main" id="{62FCE210-0E1D-41EF-B452-5F91054E5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450" y="1614488"/>
            <a:ext cx="1333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chelin Launches International Platform For New Consumer Website">
            <a:extLst>
              <a:ext uri="{FF2B5EF4-FFF2-40B4-BE49-F238E27FC236}">
                <a16:creationId xmlns:a16="http://schemas.microsoft.com/office/drawing/2014/main" id="{966077A3-46F3-483B-BF1B-7490B7C33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31" y="5143504"/>
            <a:ext cx="3778469" cy="142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hat is the meaning of the Toyota logo?">
            <a:extLst>
              <a:ext uri="{FF2B5EF4-FFF2-40B4-BE49-F238E27FC236}">
                <a16:creationId xmlns:a16="http://schemas.microsoft.com/office/drawing/2014/main" id="{CD762343-D5C9-4CDE-8CAD-E834D482F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855" y="1444055"/>
            <a:ext cx="1734648" cy="143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31F67427-1B41-4AC7-AB0D-7BBA5796D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85" y="4202824"/>
            <a:ext cx="28575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Woolworths Holdings Limited - Wikipedia">
            <a:extLst>
              <a:ext uri="{FF2B5EF4-FFF2-40B4-BE49-F238E27FC236}">
                <a16:creationId xmlns:a16="http://schemas.microsoft.com/office/drawing/2014/main" id="{13EC07F5-797B-4E1A-A9BD-5ECEFFBF6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34" y="4556097"/>
            <a:ext cx="2391678" cy="164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Mahindra Logo, HD Png, Meaning, Information">
            <a:extLst>
              <a:ext uri="{FF2B5EF4-FFF2-40B4-BE49-F238E27FC236}">
                <a16:creationId xmlns:a16="http://schemas.microsoft.com/office/drawing/2014/main" id="{841E7B9E-58DC-44DD-9519-04976C24D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078" y="3734869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194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990600"/>
          </a:xfrm>
        </p:spPr>
        <p:txBody>
          <a:bodyPr lIns="92071" tIns="46036" rIns="92071" bIns="46036"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What’s Special about “International” Finance?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8600" y="1752600"/>
            <a:ext cx="8458200" cy="437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RISK! </a:t>
            </a:r>
          </a:p>
          <a:p>
            <a:pPr lvl="1" eaLnBrk="1" hangingPunct="1"/>
            <a:r>
              <a:rPr lang="en-US" altLang="en-US" sz="2400" dirty="0"/>
              <a:t>Risk: </a:t>
            </a:r>
            <a:r>
              <a:rPr lang="en-US" altLang="en-US" sz="2400" dirty="0">
                <a:highlight>
                  <a:srgbClr val="FFFF00"/>
                </a:highlight>
              </a:rPr>
              <a:t>more possible outcomes</a:t>
            </a:r>
            <a:r>
              <a:rPr lang="en-US" altLang="en-US" sz="2400" dirty="0"/>
              <a:t> (both good &amp; bad)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Foreign exchange risk and political risks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Market imperfections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Expanded opportunity set</a:t>
            </a:r>
          </a:p>
          <a:p>
            <a:pPr marL="914400" lvl="1" indent="-514350" eaLnBrk="1" hangingPunct="1">
              <a:buFont typeface="+mj-lt"/>
              <a:buAutoNum type="arabicPeriod"/>
            </a:pPr>
            <a:endParaRPr lang="en-US" altLang="en-US" sz="2400" dirty="0"/>
          </a:p>
          <a:p>
            <a:pPr eaLnBrk="1" hangingPunct="1"/>
            <a:r>
              <a:rPr lang="en-US" altLang="en-US" sz="2800" dirty="0"/>
              <a:t>sovereign nations can:</a:t>
            </a:r>
          </a:p>
          <a:p>
            <a:pPr lvl="1" eaLnBrk="1" hangingPunct="1"/>
            <a:r>
              <a:rPr lang="en-US" altLang="en-US" sz="2400" dirty="0"/>
              <a:t>issue currency </a:t>
            </a:r>
          </a:p>
          <a:p>
            <a:pPr lvl="1" eaLnBrk="1" hangingPunct="1"/>
            <a:r>
              <a:rPr lang="en-US" altLang="en-US" sz="2400" dirty="0"/>
              <a:t>Implement economic policies</a:t>
            </a:r>
          </a:p>
          <a:p>
            <a:pPr lvl="2" eaLnBrk="1" hangingPunct="1"/>
            <a:r>
              <a:rPr lang="en-US" altLang="en-US" sz="2000" dirty="0"/>
              <a:t> impose taxes, regulations, trade restrictions, etc.</a:t>
            </a:r>
          </a:p>
        </p:txBody>
      </p:sp>
      <p:sp>
        <p:nvSpPr>
          <p:cNvPr id="16388" name="Rectangle 20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1470271F-B8C3-4E8F-B19E-EB859E8F5752}" type="slidenum">
              <a:rPr lang="en-US" altLang="en-US" sz="900">
                <a:cs typeface="Arial" charset="0"/>
              </a:rPr>
              <a:pPr algn="r" eaLnBrk="1" hangingPunct="1"/>
              <a:t>7</a:t>
            </a:fld>
            <a:endParaRPr lang="en-US" altLang="en-US" sz="10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35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990600"/>
          </a:xfrm>
        </p:spPr>
        <p:txBody>
          <a:bodyPr lIns="92071" tIns="46036" rIns="92071" bIns="46036"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What’s Special about “International” Finance?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8600" y="1752600"/>
            <a:ext cx="8458200" cy="437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RISK! </a:t>
            </a:r>
          </a:p>
          <a:p>
            <a:pPr lvl="1" eaLnBrk="1" hangingPunct="1"/>
            <a:r>
              <a:rPr lang="en-US" altLang="en-US" sz="2400" dirty="0"/>
              <a:t>Risk: </a:t>
            </a:r>
            <a:r>
              <a:rPr lang="en-US" altLang="en-US" sz="2400" dirty="0">
                <a:highlight>
                  <a:srgbClr val="FFFF00"/>
                </a:highlight>
              </a:rPr>
              <a:t>more possible outcomes</a:t>
            </a:r>
            <a:r>
              <a:rPr lang="en-US" altLang="en-US" sz="2400" dirty="0"/>
              <a:t> (both good &amp; bad)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>
                <a:highlight>
                  <a:srgbClr val="00FF00"/>
                </a:highlight>
              </a:rPr>
              <a:t>Foreign exchange risk </a:t>
            </a:r>
            <a:r>
              <a:rPr lang="en-US" altLang="en-US" sz="2400" dirty="0"/>
              <a:t>and political risks</a:t>
            </a:r>
          </a:p>
          <a:p>
            <a:pPr lvl="2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E.g. US MNC earns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€, must convert to $</a:t>
            </a:r>
            <a:endParaRPr lang="en-US" altLang="en-US" sz="2000" dirty="0"/>
          </a:p>
        </p:txBody>
      </p:sp>
      <p:sp>
        <p:nvSpPr>
          <p:cNvPr id="16388" name="Rectangle 20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1470271F-B8C3-4E8F-B19E-EB859E8F5752}" type="slidenum">
              <a:rPr lang="en-US" altLang="en-US" sz="900">
                <a:cs typeface="Arial" charset="0"/>
              </a:rPr>
              <a:pPr algn="r" eaLnBrk="1" hangingPunct="1"/>
              <a:t>8</a:t>
            </a:fld>
            <a:endParaRPr lang="en-US" altLang="en-US" sz="1000">
              <a:cs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F2B6E0-F334-45A4-8DE7-E882C688C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914400"/>
            <a:ext cx="5391150" cy="50958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990600"/>
          </a:xfrm>
        </p:spPr>
        <p:txBody>
          <a:bodyPr lIns="92071" tIns="46036" rIns="92071" bIns="46036"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What’s Special about “International” Finance?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8600" y="1752600"/>
            <a:ext cx="8458200" cy="437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RISK! </a:t>
            </a:r>
          </a:p>
          <a:p>
            <a:pPr lvl="1" eaLnBrk="1" hangingPunct="1"/>
            <a:r>
              <a:rPr lang="en-US" altLang="en-US" sz="2400" dirty="0"/>
              <a:t>Risk: </a:t>
            </a:r>
            <a:r>
              <a:rPr lang="en-US" altLang="en-US" sz="2400" dirty="0">
                <a:highlight>
                  <a:srgbClr val="FFFF00"/>
                </a:highlight>
              </a:rPr>
              <a:t>more possible outcomes</a:t>
            </a:r>
            <a:r>
              <a:rPr lang="en-US" altLang="en-US" sz="2400" dirty="0"/>
              <a:t> (both good &amp; bad)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Foreign exchange risk and </a:t>
            </a:r>
            <a:r>
              <a:rPr lang="en-US" altLang="en-US" sz="2400" dirty="0">
                <a:highlight>
                  <a:srgbClr val="00FF00"/>
                </a:highlight>
              </a:rPr>
              <a:t>political risks</a:t>
            </a:r>
          </a:p>
          <a:p>
            <a:pPr marL="630238" lvl="2" indent="-168275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E.g. Foreign govt. nationalizes a MNC’s local plants</a:t>
            </a:r>
          </a:p>
          <a:p>
            <a:pPr marL="630238" lvl="2" indent="-168275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Foreign govt. imposes new taxes, trade restrictions</a:t>
            </a:r>
          </a:p>
          <a:p>
            <a:pPr marL="630238" lvl="2" indent="-168275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Foreign country joins a trade bloc &amp; gains market access</a:t>
            </a:r>
          </a:p>
        </p:txBody>
      </p:sp>
      <p:sp>
        <p:nvSpPr>
          <p:cNvPr id="16388" name="Rectangle 20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1470271F-B8C3-4E8F-B19E-EB859E8F5752}" type="slidenum">
              <a:rPr lang="en-US" altLang="en-US" sz="900">
                <a:cs typeface="Arial" charset="0"/>
              </a:rPr>
              <a:pPr algn="r" eaLnBrk="1" hangingPunct="1"/>
              <a:t>9</a:t>
            </a:fld>
            <a:endParaRPr lang="en-US" altLang="en-US" sz="10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9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990600"/>
          </a:xfrm>
        </p:spPr>
        <p:txBody>
          <a:bodyPr lIns="92071" tIns="46036" rIns="92071" bIns="46036"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What’s Special about “International” Finance?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8600" y="1752600"/>
            <a:ext cx="8458200" cy="437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RISK! </a:t>
            </a:r>
          </a:p>
          <a:p>
            <a:pPr lvl="1" eaLnBrk="1" hangingPunct="1"/>
            <a:r>
              <a:rPr lang="en-US" altLang="en-US" sz="2400" dirty="0"/>
              <a:t>Risk: </a:t>
            </a:r>
            <a:r>
              <a:rPr lang="en-US" altLang="en-US" sz="2400" dirty="0">
                <a:highlight>
                  <a:srgbClr val="FFFF00"/>
                </a:highlight>
              </a:rPr>
              <a:t>more possible outcomes</a:t>
            </a:r>
            <a:r>
              <a:rPr lang="en-US" altLang="en-US" sz="2400" dirty="0"/>
              <a:t> (both good &amp; bad)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Foreign exchange risk and political risks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Market imperfections</a:t>
            </a:r>
          </a:p>
          <a:p>
            <a:pPr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Institutions (laws, regs, taxes, etc.) differ across countries, leading to market inefficiencies </a:t>
            </a:r>
          </a:p>
        </p:txBody>
      </p:sp>
      <p:sp>
        <p:nvSpPr>
          <p:cNvPr id="16388" name="Rectangle 20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1470271F-B8C3-4E8F-B19E-EB859E8F5752}" type="slidenum">
              <a:rPr lang="en-US" altLang="en-US" sz="900">
                <a:cs typeface="Arial" charset="0"/>
              </a:rPr>
              <a:pPr algn="r" eaLnBrk="1" hangingPunct="1"/>
              <a:t>10</a:t>
            </a:fld>
            <a:endParaRPr lang="en-US" altLang="en-US" sz="10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85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990600"/>
          </a:xfrm>
        </p:spPr>
        <p:txBody>
          <a:bodyPr lIns="92071" tIns="46036" rIns="92071" bIns="46036"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What’s Special about “International” Finance?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8600" y="1752600"/>
            <a:ext cx="8458200" cy="437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RISK! </a:t>
            </a:r>
          </a:p>
          <a:p>
            <a:pPr lvl="1" eaLnBrk="1" hangingPunct="1"/>
            <a:r>
              <a:rPr lang="en-US" altLang="en-US" sz="2400" dirty="0"/>
              <a:t>Risk: </a:t>
            </a:r>
            <a:r>
              <a:rPr lang="en-US" altLang="en-US" sz="2400" dirty="0">
                <a:highlight>
                  <a:srgbClr val="FFFF00"/>
                </a:highlight>
              </a:rPr>
              <a:t>more possible outcomes</a:t>
            </a:r>
            <a:r>
              <a:rPr lang="en-US" altLang="en-US" sz="2400" dirty="0"/>
              <a:t> (both good &amp; bad)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Foreign exchange risk and political risks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Market imperfections</a:t>
            </a:r>
          </a:p>
          <a:p>
            <a:pPr marL="914400" lvl="1" indent="-514350" eaLnBrk="1" hangingPunct="1">
              <a:buFont typeface="+mj-lt"/>
              <a:buAutoNum type="arabicPeriod"/>
            </a:pPr>
            <a:r>
              <a:rPr lang="en-US" altLang="en-US" sz="2400" dirty="0"/>
              <a:t>Expanded opportunity set</a:t>
            </a:r>
          </a:p>
          <a:p>
            <a:pPr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“undeveloped” economies = faster economic growth</a:t>
            </a:r>
          </a:p>
          <a:p>
            <a:pPr marL="400050" lvl="1" indent="0" eaLnBrk="1" hangingPunct="1">
              <a:buNone/>
            </a:pPr>
            <a:r>
              <a:rPr lang="en-US" altLang="en-US" sz="2000" dirty="0"/>
              <a:t>(countries that </a:t>
            </a:r>
            <a:r>
              <a:rPr lang="en-US" altLang="en-US" sz="2000" i="1" dirty="0"/>
              <a:t>haven’t grown yet</a:t>
            </a:r>
            <a:r>
              <a:rPr lang="en-US" altLang="en-US" sz="2000" dirty="0"/>
              <a:t> have more potential)</a:t>
            </a:r>
          </a:p>
          <a:p>
            <a:pPr marL="914400" lvl="1" indent="-514350" eaLnBrk="1" hangingPunct="1">
              <a:buFont typeface="+mj-lt"/>
              <a:buAutoNum type="arabicPeriod"/>
            </a:pPr>
            <a:endParaRPr lang="en-US" altLang="en-US" sz="2400" dirty="0"/>
          </a:p>
        </p:txBody>
      </p:sp>
      <p:sp>
        <p:nvSpPr>
          <p:cNvPr id="16388" name="Rectangle 20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1470271F-B8C3-4E8F-B19E-EB859E8F5752}" type="slidenum">
              <a:rPr lang="en-US" altLang="en-US" sz="900">
                <a:cs typeface="Arial" charset="0"/>
              </a:rPr>
              <a:pPr algn="r" eaLnBrk="1" hangingPunct="1"/>
              <a:t>11</a:t>
            </a:fld>
            <a:endParaRPr lang="en-US" altLang="en-US" sz="1000">
              <a:cs typeface="Arial" charset="0"/>
            </a:endParaRPr>
          </a:p>
        </p:txBody>
      </p:sp>
      <p:pic>
        <p:nvPicPr>
          <p:cNvPr id="3074" name="Picture 2" descr="Free Old Man Clipart, Download Free Clip Art, Free Clip Art on Clipart  Library">
            <a:extLst>
              <a:ext uri="{FF2B5EF4-FFF2-40B4-BE49-F238E27FC236}">
                <a16:creationId xmlns:a16="http://schemas.microsoft.com/office/drawing/2014/main" id="{54F57DE0-FFBA-4DA6-826F-69DAE0A60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546" y="3575022"/>
            <a:ext cx="1850716" cy="275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ootball Background clipart - Boy, Video, Illustration, transparent clip art">
            <a:extLst>
              <a:ext uri="{FF2B5EF4-FFF2-40B4-BE49-F238E27FC236}">
                <a16:creationId xmlns:a16="http://schemas.microsoft.com/office/drawing/2014/main" id="{EEA4365E-D977-49E9-A050-4C9BFD38A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21890"/>
            <a:ext cx="2385185" cy="28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49841955-A7D1-4336-AF51-D987AC8AF1E0}"/>
              </a:ext>
            </a:extLst>
          </p:cNvPr>
          <p:cNvSpPr/>
          <p:nvPr/>
        </p:nvSpPr>
        <p:spPr>
          <a:xfrm>
            <a:off x="4724400" y="4754564"/>
            <a:ext cx="2590800" cy="137159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is positioned for </a:t>
            </a:r>
            <a:r>
              <a:rPr lang="en-US" i="1" dirty="0"/>
              <a:t>growth?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86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90500" y="914400"/>
            <a:ext cx="8763000" cy="9906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Goals for International Financial Management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81000" y="1752600"/>
            <a:ext cx="8305800" cy="4678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marL="385763" indent="-385763" defTabSz="1031875" eaLnBrk="1" hangingPunct="1"/>
            <a:r>
              <a:rPr lang="en-US" altLang="en-US" sz="2800" dirty="0"/>
              <a:t>Firm’s goal (Anglo-Saxon model):</a:t>
            </a:r>
          </a:p>
          <a:p>
            <a:pPr marL="0" indent="0" defTabSz="1031875" eaLnBrk="1" hangingPunct="1">
              <a:buNone/>
            </a:pPr>
            <a:r>
              <a:rPr lang="en-US" altLang="en-US" sz="2800" dirty="0"/>
              <a:t>“Shareholder wealth maximization”</a:t>
            </a:r>
          </a:p>
          <a:p>
            <a:pPr lvl="1" defTabSz="1031875"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Share value (stock price) = </a:t>
            </a:r>
            <a:r>
              <a:rPr lang="en-US" altLang="en-US" sz="2400" dirty="0">
                <a:highlight>
                  <a:srgbClr val="00FF00"/>
                </a:highlight>
              </a:rPr>
              <a:t>discounted</a:t>
            </a:r>
            <a:r>
              <a:rPr lang="en-US" altLang="en-US" sz="2400" dirty="0"/>
              <a:t> value of firm’s future </a:t>
            </a:r>
            <a:r>
              <a:rPr lang="en-US" altLang="en-US" sz="2400" dirty="0">
                <a:highlight>
                  <a:srgbClr val="00FF00"/>
                </a:highlight>
              </a:rPr>
              <a:t>cash flows  </a:t>
            </a:r>
            <a:r>
              <a:rPr lang="en-US" altLang="en-US" sz="2400" dirty="0"/>
              <a:t>(DCF)</a:t>
            </a:r>
          </a:p>
          <a:p>
            <a:pPr marL="785813" lvl="1" indent="-385763" defTabSz="1031875" eaLnBrk="1" hangingPunct="1"/>
            <a:endParaRPr lang="en-US" altLang="en-US" sz="2400" dirty="0"/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5402C679-57A5-48AC-9324-44FE278E7581}" type="slidenum">
              <a:rPr lang="en-US" altLang="en-US" sz="900">
                <a:cs typeface="Arial" charset="0"/>
              </a:rPr>
              <a:pPr algn="r" eaLnBrk="1" hangingPunct="1"/>
              <a:t>12</a:t>
            </a:fld>
            <a:endParaRPr lang="en-US" altLang="en-US" sz="1000">
              <a:cs typeface="Arial" charset="0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069B9A6D-F903-4A1B-9776-351BD70B3F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90500" y="914400"/>
            <a:ext cx="8763000" cy="9906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Goals for International Financial Management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81000" y="1752600"/>
            <a:ext cx="8305800" cy="4678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1" tIns="46036" rIns="92071" bIns="46036" numCol="1" anchor="t" anchorCtr="0" compatLnSpc="1">
            <a:prstTxWarp prst="textNoShape">
              <a:avLst/>
            </a:prstTxWarp>
          </a:bodyPr>
          <a:lstStyle/>
          <a:p>
            <a:pPr marL="385763" indent="-385763" defTabSz="1031875" eaLnBrk="1" hangingPunct="1"/>
            <a:r>
              <a:rPr lang="en-US" altLang="en-US" sz="2800" dirty="0"/>
              <a:t>But what about “stakeholders?”</a:t>
            </a:r>
          </a:p>
          <a:p>
            <a:pPr marL="838200" lvl="1" indent="-322263" defTabSz="1031875" eaLnBrk="1" hangingPunct="1"/>
            <a:r>
              <a:rPr lang="en-US" altLang="en-US" sz="2400" dirty="0"/>
              <a:t>Employees</a:t>
            </a:r>
          </a:p>
          <a:p>
            <a:pPr marL="838200" lvl="1" indent="-322263" defTabSz="1031875" eaLnBrk="1" hangingPunct="1"/>
            <a:r>
              <a:rPr lang="en-US" altLang="en-US" sz="2400" dirty="0"/>
              <a:t>Suppliers</a:t>
            </a:r>
          </a:p>
          <a:p>
            <a:pPr marL="838200" lvl="1" indent="-322263" defTabSz="1031875" eaLnBrk="1" hangingPunct="1"/>
            <a:r>
              <a:rPr lang="en-US" altLang="en-US" sz="2400" dirty="0"/>
              <a:t>Customers</a:t>
            </a:r>
          </a:p>
          <a:p>
            <a:pPr marL="838200" lvl="1" indent="-322263" defTabSz="1031875" eaLnBrk="1" hangingPunct="1"/>
            <a:r>
              <a:rPr lang="en-US" altLang="en-US" sz="2400" dirty="0"/>
              <a:t>Banks</a:t>
            </a:r>
            <a:endParaRPr lang="en-US" altLang="en-US" sz="2800" dirty="0"/>
          </a:p>
          <a:p>
            <a:pPr marL="385763" indent="-385763" defTabSz="1031875" eaLnBrk="1" hangingPunct="1"/>
            <a:r>
              <a:rPr lang="en-US" altLang="en-US" sz="2800" i="1" dirty="0"/>
              <a:t>Shareholder </a:t>
            </a:r>
            <a:r>
              <a:rPr lang="en-US" altLang="en-US" sz="2800" dirty="0"/>
              <a:t>vs. </a:t>
            </a:r>
            <a:r>
              <a:rPr lang="en-US" altLang="en-US" sz="2800" i="1" dirty="0"/>
              <a:t>stakeholder </a:t>
            </a:r>
            <a:r>
              <a:rPr lang="en-US" altLang="en-US" sz="2800" dirty="0"/>
              <a:t>model is a major controversy in the corporate world…</a:t>
            </a:r>
          </a:p>
          <a:p>
            <a:pPr marL="385763" indent="-385763" defTabSz="1031875" eaLnBrk="1" hangingPunct="1"/>
            <a:r>
              <a:rPr lang="en-US" altLang="en-US" sz="2800" i="1" dirty="0"/>
              <a:t>… </a:t>
            </a:r>
            <a:r>
              <a:rPr lang="en-US" altLang="en-US" sz="2800" dirty="0"/>
              <a:t>views differ across countries for economic and cultural reasons</a:t>
            </a:r>
            <a:endParaRPr lang="en-US" altLang="en-US" sz="2800" i="1" dirty="0"/>
          </a:p>
          <a:p>
            <a:pPr marL="785813" lvl="1" indent="-385763" defTabSz="1031875" eaLnBrk="1" hangingPunct="1"/>
            <a:endParaRPr lang="en-US" altLang="en-US" sz="2000" dirty="0"/>
          </a:p>
          <a:p>
            <a:pPr marL="785813" lvl="1" indent="-385763" defTabSz="1031875" eaLnBrk="1" hangingPunct="1"/>
            <a:endParaRPr lang="en-US" altLang="en-US" sz="2400" dirty="0"/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5402C679-57A5-48AC-9324-44FE278E7581}" type="slidenum">
              <a:rPr lang="en-US" altLang="en-US" sz="900">
                <a:cs typeface="Arial" charset="0"/>
              </a:rPr>
              <a:pPr algn="r" eaLnBrk="1" hangingPunct="1"/>
              <a:t>13</a:t>
            </a:fld>
            <a:endParaRPr lang="en-US" altLang="en-US" sz="1000">
              <a:cs typeface="Arial" charset="0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069B9A6D-F903-4A1B-9776-351BD70B3F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074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Corporate Governance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28600" y="1817688"/>
            <a:ext cx="8686800" cy="4676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“Agency problem”: managers may pursue their own private interests at the expense of shareholders when they are not closely monitored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This “agency problem” is a major weakness of the public corporation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/>
              <a:t>corporate governance: </a:t>
            </a:r>
            <a:r>
              <a:rPr lang="en-US" altLang="en-US" sz="2800" dirty="0"/>
              <a:t>regulates the relationship between a firm’s management and its shareholders/ stakeholders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Institutions: laws, regulations, corporate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Be aware of differences across countries!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“Change the rules, change the results”</a:t>
            </a:r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900">
                <a:cs typeface="Arial" charset="0"/>
              </a:rPr>
              <a:t>1-</a:t>
            </a:r>
            <a:fld id="{5D04232C-00D5-4836-BDF4-9B5DE605FDD1}" type="slidenum">
              <a:rPr lang="en-US" altLang="en-US" sz="900">
                <a:cs typeface="Arial" charset="0"/>
              </a:rPr>
              <a:pPr algn="r" eaLnBrk="1" hangingPunct="1"/>
              <a:t>14</a:t>
            </a:fld>
            <a:endParaRPr lang="en-US" altLang="en-US" sz="1000">
              <a:cs typeface="Arial" charset="0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3EABA85D-9C64-4E98-9B7C-B644EE75C9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724400" y="6523038"/>
            <a:ext cx="4114800" cy="36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/>
              <a:t>Copyright © 2021 by the McGraw-Hill Companies, Inc. All rights reserved.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968F-BE91-45C7-8920-2DB0EA3B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INTB 440 agenda: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C6B11-0780-4F4E-9096-10CA557DB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Financial risk management for MNCs:</a:t>
            </a:r>
          </a:p>
          <a:p>
            <a:endParaRPr lang="en-US" dirty="0"/>
          </a:p>
          <a:p>
            <a:pPr lvl="1"/>
            <a:r>
              <a:rPr lang="en-US" dirty="0"/>
              <a:t>FOREX risk</a:t>
            </a:r>
          </a:p>
          <a:p>
            <a:pPr lvl="2"/>
            <a:r>
              <a:rPr lang="en-US" dirty="0"/>
              <a:t>Futures, forwards, hedging</a:t>
            </a:r>
          </a:p>
          <a:p>
            <a:pPr lvl="1"/>
            <a:r>
              <a:rPr lang="en-US" dirty="0"/>
              <a:t>Structure and operation of global financial markets</a:t>
            </a:r>
          </a:p>
          <a:p>
            <a:pPr lvl="2"/>
            <a:r>
              <a:rPr lang="en-US" dirty="0"/>
              <a:t>Raising capital abroad—loans, stocks, bonds </a:t>
            </a:r>
          </a:p>
          <a:p>
            <a:pPr lvl="1"/>
            <a:r>
              <a:rPr lang="en-US" dirty="0"/>
              <a:t>Financing for MNCs</a:t>
            </a:r>
          </a:p>
          <a:p>
            <a:pPr lvl="2"/>
            <a:r>
              <a:rPr lang="en-US" dirty="0"/>
              <a:t>Capital financing, import/export</a:t>
            </a:r>
          </a:p>
        </p:txBody>
      </p:sp>
    </p:spTree>
    <p:extLst>
      <p:ext uri="{BB962C8B-B14F-4D97-AF65-F5344CB8AC3E}">
        <p14:creationId xmlns:p14="http://schemas.microsoft.com/office/powerpoint/2010/main" val="225901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3808</TotalTime>
  <Words>885</Words>
  <Application>Microsoft Office PowerPoint</Application>
  <PresentationFormat>On-screen Show (4:3)</PresentationFormat>
  <Paragraphs>130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Arial Unicode MS</vt:lpstr>
      <vt:lpstr>Calibri</vt:lpstr>
      <vt:lpstr>Wingdings</vt:lpstr>
      <vt:lpstr>template</vt:lpstr>
      <vt:lpstr>INTB 440 International Finance</vt:lpstr>
      <vt:lpstr>Overview</vt:lpstr>
      <vt:lpstr>Globalization</vt:lpstr>
      <vt:lpstr>Globalization of the World Economy: Major Trends and Developments</vt:lpstr>
      <vt:lpstr>Multinational Corporations  </vt:lpstr>
      <vt:lpstr>Multinational Corporations  </vt:lpstr>
      <vt:lpstr>What’s Special about “International” Finance?</vt:lpstr>
      <vt:lpstr>What’s Special about “International” Finance?</vt:lpstr>
      <vt:lpstr>What’s Special about “International” Finance?</vt:lpstr>
      <vt:lpstr>What’s Special about “International” Finance?</vt:lpstr>
      <vt:lpstr>What’s Special about “International” Finance?</vt:lpstr>
      <vt:lpstr>Goals for International Financial Management</vt:lpstr>
      <vt:lpstr>Goals for International Financial Management</vt:lpstr>
      <vt:lpstr>Corporate Governance</vt:lpstr>
      <vt:lpstr>INTB 440 agenda: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tsonly</dc:creator>
  <cp:lastModifiedBy>Tyler A Watts</cp:lastModifiedBy>
  <cp:revision>165</cp:revision>
  <cp:lastPrinted>2013-10-29T21:45:09Z</cp:lastPrinted>
  <dcterms:created xsi:type="dcterms:W3CDTF">2010-12-17T11:54:02Z</dcterms:created>
  <dcterms:modified xsi:type="dcterms:W3CDTF">2021-01-12T23:25:34Z</dcterms:modified>
</cp:coreProperties>
</file>