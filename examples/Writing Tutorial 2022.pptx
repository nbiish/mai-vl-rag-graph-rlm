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1" r:id="rId5"/>
    <p:sldId id="260" r:id="rId6"/>
    <p:sldId id="262" r:id="rId7"/>
    <p:sldId id="270" r:id="rId8"/>
    <p:sldId id="264" r:id="rId9"/>
    <p:sldId id="265" r:id="rId10"/>
    <p:sldId id="266" r:id="rId11"/>
    <p:sldId id="268" r:id="rId12"/>
    <p:sldId id="269" r:id="rId13"/>
    <p:sldId id="271" r:id="rId14"/>
    <p:sldId id="278" r:id="rId15"/>
    <p:sldId id="272" r:id="rId16"/>
    <p:sldId id="273" r:id="rId17"/>
    <p:sldId id="274" r:id="rId18"/>
    <p:sldId id="275" r:id="rId19"/>
    <p:sldId id="277" r:id="rId20"/>
    <p:sldId id="27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1191" autoAdjust="0"/>
    <p:restoredTop sz="94660"/>
  </p:normalViewPr>
  <p:slideViewPr>
    <p:cSldViewPr snapToGrid="0">
      <p:cViewPr varScale="1">
        <p:scale>
          <a:sx n="63" d="100"/>
          <a:sy n="63" d="100"/>
        </p:scale>
        <p:origin x="102" y="12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A5EF31C-9CE7-4F91-97F1-8D3E54DECF6A}" type="datetimeFigureOut">
              <a:rPr lang="en-US" smtClean="0"/>
              <a:t>11/3/2022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F378CB-13B5-4420-A1FF-143E957E140C}" type="slidenum">
              <a:rPr lang="en-US" smtClean="0"/>
              <a:t>‹#›</a:t>
            </a:fld>
            <a:endParaRPr lang="en-US"/>
          </a:p>
        </p:txBody>
      </p:sp>
    </p:spTree>
    <p:extLst>
      <p:ext uri="{BB962C8B-B14F-4D97-AF65-F5344CB8AC3E}">
        <p14:creationId xmlns:p14="http://schemas.microsoft.com/office/powerpoint/2010/main" val="1075278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5EF31C-9CE7-4F91-97F1-8D3E54DECF6A}" type="datetimeFigureOut">
              <a:rPr lang="en-US" smtClean="0"/>
              <a:t>11/3/2022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F378CB-13B5-4420-A1FF-143E957E140C}" type="slidenum">
              <a:rPr lang="en-US" smtClean="0"/>
              <a:t>‹#›</a:t>
            </a:fld>
            <a:endParaRPr lang="en-US"/>
          </a:p>
        </p:txBody>
      </p:sp>
    </p:spTree>
    <p:extLst>
      <p:ext uri="{BB962C8B-B14F-4D97-AF65-F5344CB8AC3E}">
        <p14:creationId xmlns:p14="http://schemas.microsoft.com/office/powerpoint/2010/main" val="2651680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5EF31C-9CE7-4F91-97F1-8D3E54DECF6A}" type="datetimeFigureOut">
              <a:rPr lang="en-US" smtClean="0"/>
              <a:t>11/3/2022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F378CB-13B5-4420-A1FF-143E957E140C}" type="slidenum">
              <a:rPr lang="en-US" smtClean="0"/>
              <a:t>‹#›</a:t>
            </a:fld>
            <a:endParaRPr lang="en-US"/>
          </a:p>
        </p:txBody>
      </p:sp>
    </p:spTree>
    <p:extLst>
      <p:ext uri="{BB962C8B-B14F-4D97-AF65-F5344CB8AC3E}">
        <p14:creationId xmlns:p14="http://schemas.microsoft.com/office/powerpoint/2010/main" val="1101121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A5EF31C-9CE7-4F91-97F1-8D3E54DECF6A}" type="datetimeFigureOut">
              <a:rPr lang="en-US" smtClean="0"/>
              <a:t>11/3/2022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F378CB-13B5-4420-A1FF-143E957E140C}" type="slidenum">
              <a:rPr lang="en-US" smtClean="0"/>
              <a:t>‹#›</a:t>
            </a:fld>
            <a:endParaRPr lang="en-US"/>
          </a:p>
        </p:txBody>
      </p:sp>
    </p:spTree>
    <p:extLst>
      <p:ext uri="{BB962C8B-B14F-4D97-AF65-F5344CB8AC3E}">
        <p14:creationId xmlns:p14="http://schemas.microsoft.com/office/powerpoint/2010/main" val="286071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A5EF31C-9CE7-4F91-97F1-8D3E54DECF6A}" type="datetimeFigureOut">
              <a:rPr lang="en-US" smtClean="0"/>
              <a:t>11/3/2022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3F378CB-13B5-4420-A1FF-143E957E140C}" type="slidenum">
              <a:rPr lang="en-US" smtClean="0"/>
              <a:t>‹#›</a:t>
            </a:fld>
            <a:endParaRPr lang="en-US"/>
          </a:p>
        </p:txBody>
      </p:sp>
    </p:spTree>
    <p:extLst>
      <p:ext uri="{BB962C8B-B14F-4D97-AF65-F5344CB8AC3E}">
        <p14:creationId xmlns:p14="http://schemas.microsoft.com/office/powerpoint/2010/main" val="3015889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A5EF31C-9CE7-4F91-97F1-8D3E54DECF6A}" type="datetimeFigureOut">
              <a:rPr lang="en-US" smtClean="0"/>
              <a:t>11/3/2022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3F378CB-13B5-4420-A1FF-143E957E140C}" type="slidenum">
              <a:rPr lang="en-US" smtClean="0"/>
              <a:t>‹#›</a:t>
            </a:fld>
            <a:endParaRPr lang="en-US"/>
          </a:p>
        </p:txBody>
      </p:sp>
    </p:spTree>
    <p:extLst>
      <p:ext uri="{BB962C8B-B14F-4D97-AF65-F5344CB8AC3E}">
        <p14:creationId xmlns:p14="http://schemas.microsoft.com/office/powerpoint/2010/main" val="9381068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5EF31C-9CE7-4F91-97F1-8D3E54DECF6A}" type="datetimeFigureOut">
              <a:rPr lang="en-US" smtClean="0"/>
              <a:t>11/3/2022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3F378CB-13B5-4420-A1FF-143E957E140C}" type="slidenum">
              <a:rPr lang="en-US" smtClean="0"/>
              <a:t>‹#›</a:t>
            </a:fld>
            <a:endParaRPr lang="en-US"/>
          </a:p>
        </p:txBody>
      </p:sp>
    </p:spTree>
    <p:extLst>
      <p:ext uri="{BB962C8B-B14F-4D97-AF65-F5344CB8AC3E}">
        <p14:creationId xmlns:p14="http://schemas.microsoft.com/office/powerpoint/2010/main" val="29242518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A5EF31C-9CE7-4F91-97F1-8D3E54DECF6A}" type="datetimeFigureOut">
              <a:rPr lang="en-US" smtClean="0"/>
              <a:t>11/3/2022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F378CB-13B5-4420-A1FF-143E957E140C}" type="slidenum">
              <a:rPr lang="en-US" smtClean="0"/>
              <a:t>‹#›</a:t>
            </a:fld>
            <a:endParaRPr lang="en-US"/>
          </a:p>
        </p:txBody>
      </p:sp>
    </p:spTree>
    <p:extLst>
      <p:ext uri="{BB962C8B-B14F-4D97-AF65-F5344CB8AC3E}">
        <p14:creationId xmlns:p14="http://schemas.microsoft.com/office/powerpoint/2010/main" val="1685509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A5EF31C-9CE7-4F91-97F1-8D3E54DECF6A}" type="datetimeFigureOut">
              <a:rPr lang="en-US" smtClean="0"/>
              <a:t>11/3/2022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F378CB-13B5-4420-A1FF-143E957E140C}" type="slidenum">
              <a:rPr lang="en-US" smtClean="0"/>
              <a:t>‹#›</a:t>
            </a:fld>
            <a:endParaRPr lang="en-US"/>
          </a:p>
        </p:txBody>
      </p:sp>
    </p:spTree>
    <p:extLst>
      <p:ext uri="{BB962C8B-B14F-4D97-AF65-F5344CB8AC3E}">
        <p14:creationId xmlns:p14="http://schemas.microsoft.com/office/powerpoint/2010/main" val="3535881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5EF31C-9CE7-4F91-97F1-8D3E54DECF6A}" type="datetimeFigureOut">
              <a:rPr lang="en-US" smtClean="0"/>
              <a:t>11/3/2022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F378CB-13B5-4420-A1FF-143E957E140C}" type="slidenum">
              <a:rPr lang="en-US" smtClean="0"/>
              <a:t>‹#›</a:t>
            </a:fld>
            <a:endParaRPr lang="en-US"/>
          </a:p>
        </p:txBody>
      </p:sp>
    </p:spTree>
    <p:extLst>
      <p:ext uri="{BB962C8B-B14F-4D97-AF65-F5344CB8AC3E}">
        <p14:creationId xmlns:p14="http://schemas.microsoft.com/office/powerpoint/2010/main" val="3357955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5EF31C-9CE7-4F91-97F1-8D3E54DECF6A}" type="datetimeFigureOut">
              <a:rPr lang="en-US" smtClean="0"/>
              <a:t>11/3/2022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F378CB-13B5-4420-A1FF-143E957E140C}" type="slidenum">
              <a:rPr lang="en-US" smtClean="0"/>
              <a:t>‹#›</a:t>
            </a:fld>
            <a:endParaRPr lang="en-US"/>
          </a:p>
        </p:txBody>
      </p:sp>
    </p:spTree>
    <p:extLst>
      <p:ext uri="{BB962C8B-B14F-4D97-AF65-F5344CB8AC3E}">
        <p14:creationId xmlns:p14="http://schemas.microsoft.com/office/powerpoint/2010/main" val="652902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5EF31C-9CE7-4F91-97F1-8D3E54DECF6A}" type="datetimeFigureOut">
              <a:rPr lang="en-US" smtClean="0"/>
              <a:t>11/3/2022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F378CB-13B5-4420-A1FF-143E957E140C}" type="slidenum">
              <a:rPr lang="en-US" smtClean="0"/>
              <a:t>‹#›</a:t>
            </a:fld>
            <a:endParaRPr lang="en-US"/>
          </a:p>
        </p:txBody>
      </p:sp>
    </p:spTree>
    <p:extLst>
      <p:ext uri="{BB962C8B-B14F-4D97-AF65-F5344CB8AC3E}">
        <p14:creationId xmlns:p14="http://schemas.microsoft.com/office/powerpoint/2010/main" val="37003911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Overview</a:t>
            </a:r>
          </a:p>
        </p:txBody>
      </p:sp>
      <p:sp>
        <p:nvSpPr>
          <p:cNvPr id="5" name="Content Placeholder 4"/>
          <p:cNvSpPr>
            <a:spLocks noGrp="1"/>
          </p:cNvSpPr>
          <p:nvPr>
            <p:ph idx="1"/>
          </p:nvPr>
        </p:nvSpPr>
        <p:spPr/>
        <p:txBody>
          <a:bodyPr/>
          <a:lstStyle/>
          <a:p>
            <a:pPr marL="514350" indent="-514350">
              <a:buAutoNum type="arabicPeriod"/>
            </a:pPr>
            <a:r>
              <a:rPr lang="en-US" dirty="0"/>
              <a:t>THESIS STATEMENT</a:t>
            </a:r>
          </a:p>
          <a:p>
            <a:pPr marL="514350" indent="-514350">
              <a:buFont typeface="Arial" panose="020B0604020202020204" pitchFamily="34" charset="0"/>
              <a:buAutoNum type="arabicPeriod"/>
            </a:pPr>
            <a:r>
              <a:rPr lang="en-US" dirty="0"/>
              <a:t>OUTLINING</a:t>
            </a:r>
          </a:p>
          <a:p>
            <a:pPr marL="514350" indent="-514350">
              <a:buFont typeface="Arial" panose="020B0604020202020204" pitchFamily="34" charset="0"/>
              <a:buAutoNum type="arabicPeriod"/>
            </a:pPr>
            <a:r>
              <a:rPr lang="en-US" dirty="0"/>
              <a:t>TOPIC SENTENCES</a:t>
            </a:r>
          </a:p>
          <a:p>
            <a:pPr marL="514350" indent="-514350">
              <a:buFont typeface="Arial" panose="020B0604020202020204" pitchFamily="34" charset="0"/>
              <a:buAutoNum type="arabicPeriod"/>
            </a:pPr>
            <a:r>
              <a:rPr lang="en-US" dirty="0"/>
              <a:t>REWRITING</a:t>
            </a:r>
          </a:p>
          <a:p>
            <a:pPr marL="514350" indent="-514350">
              <a:buAutoNum type="arabicPeriod"/>
            </a:pPr>
            <a:r>
              <a:rPr lang="en-US" dirty="0"/>
              <a:t>STYLE GUIDELINES</a:t>
            </a:r>
          </a:p>
          <a:p>
            <a:pPr marL="514350" indent="-514350">
              <a:buAutoNum type="arabicPeriod"/>
            </a:pPr>
            <a:endParaRPr lang="en-US" dirty="0"/>
          </a:p>
        </p:txBody>
      </p:sp>
    </p:spTree>
    <p:extLst>
      <p:ext uri="{BB962C8B-B14F-4D97-AF65-F5344CB8AC3E}">
        <p14:creationId xmlns:p14="http://schemas.microsoft.com/office/powerpoint/2010/main" val="41652606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Thesis Statement</a:t>
            </a:r>
          </a:p>
        </p:txBody>
      </p:sp>
      <p:sp>
        <p:nvSpPr>
          <p:cNvPr id="3" name="Content Placeholder 2"/>
          <p:cNvSpPr>
            <a:spLocks noGrp="1"/>
          </p:cNvSpPr>
          <p:nvPr>
            <p:ph idx="1"/>
          </p:nvPr>
        </p:nvSpPr>
        <p:spPr/>
        <p:txBody>
          <a:bodyPr>
            <a:normAutofit fontScale="92500"/>
          </a:bodyPr>
          <a:lstStyle/>
          <a:p>
            <a:pPr marL="0" indent="0">
              <a:buNone/>
            </a:pPr>
            <a:r>
              <a:rPr lang="en-US" dirty="0"/>
              <a:t>Can you boil the main idea of your essay down to just one sentence? If so, congratulations—you have a thesis statement! </a:t>
            </a:r>
          </a:p>
          <a:p>
            <a:pPr marL="0" indent="0">
              <a:buNone/>
            </a:pPr>
            <a:endParaRPr lang="en-US" dirty="0"/>
          </a:p>
          <a:p>
            <a:pPr marL="0" indent="0">
              <a:buNone/>
            </a:pPr>
            <a:r>
              <a:rPr lang="en-US" dirty="0"/>
              <a:t>Your thesis statement is the most important item in your essay, so write it first and spend time early on making it strong.</a:t>
            </a:r>
          </a:p>
          <a:p>
            <a:r>
              <a:rPr lang="en-US" dirty="0"/>
              <a:t>A solid thesis statement keeps you focused as you write and helps the reader instantly understand the point you are trying to make. </a:t>
            </a:r>
          </a:p>
          <a:p>
            <a:r>
              <a:rPr lang="en-US" dirty="0"/>
              <a:t>A weak or missing thesis statement spells disaster—you have no main idea to motivate or drive the paper, and you’re thus prone to go off in many divergent directions, leaving your reader confused and unfocused.</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536891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Thesis Statement Examples</a:t>
            </a:r>
          </a:p>
        </p:txBody>
      </p:sp>
      <p:sp>
        <p:nvSpPr>
          <p:cNvPr id="3" name="Content Placeholder 2"/>
          <p:cNvSpPr>
            <a:spLocks noGrp="1"/>
          </p:cNvSpPr>
          <p:nvPr>
            <p:ph idx="1"/>
          </p:nvPr>
        </p:nvSpPr>
        <p:spPr/>
        <p:txBody>
          <a:bodyPr>
            <a:normAutofit/>
          </a:bodyPr>
          <a:lstStyle/>
          <a:p>
            <a:pPr marL="0" indent="0">
              <a:buNone/>
            </a:pPr>
            <a:r>
              <a:rPr lang="en-US" b="1" dirty="0"/>
              <a:t>From a paper about automotive entrepreneur Preston Tucker:</a:t>
            </a:r>
          </a:p>
          <a:p>
            <a:pPr marL="0" indent="0">
              <a:buNone/>
            </a:pPr>
            <a:r>
              <a:rPr lang="en-US" dirty="0"/>
              <a:t>“Although Tucker’s unsound financial and marketing tactics, along with poor corporate governance, led to the swift downfall of his visionary automobile, Tucker had a lasting impact on the US auto industry that hastened performance and safety innovations that continue to benefit consumers long after his departure.”</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4193231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fontScale="92500" lnSpcReduction="10000"/>
          </a:bodyPr>
          <a:lstStyle/>
          <a:p>
            <a:pPr marL="0" indent="0">
              <a:buNone/>
            </a:pPr>
            <a:r>
              <a:rPr lang="en-US" dirty="0"/>
              <a:t>Once you have a topic and a thesis statement, your next task should be to outline the paper in a very brief form. </a:t>
            </a:r>
          </a:p>
          <a:p>
            <a:pPr marL="0" indent="0">
              <a:buNone/>
            </a:pPr>
            <a:endParaRPr lang="en-US" dirty="0"/>
          </a:p>
          <a:p>
            <a:pPr marL="0" indent="0">
              <a:buNone/>
            </a:pPr>
            <a:r>
              <a:rPr lang="en-US" dirty="0"/>
              <a:t>The basic outline consists of three parts: introduction, body, and conclusion. </a:t>
            </a:r>
          </a:p>
          <a:p>
            <a:pPr marL="0" indent="0">
              <a:buNone/>
            </a:pPr>
            <a:endParaRPr lang="en-US" dirty="0"/>
          </a:p>
          <a:p>
            <a:pPr marL="0" indent="0">
              <a:buNone/>
            </a:pPr>
            <a:r>
              <a:rPr lang="en-US" dirty="0"/>
              <a:t>An outline can be very sparse at first (you can expand it later), and need only include your thesis statement and a list of arguments or points you will make in defense of it.  </a:t>
            </a:r>
          </a:p>
          <a:p>
            <a:r>
              <a:rPr lang="en-US" dirty="0"/>
              <a:t>When outlining, be sure that the structure of the paper conforms to the order of topics/ arguments laid out in the thesis statement and opening paragraphs (see example below)</a:t>
            </a:r>
          </a:p>
        </p:txBody>
      </p:sp>
    </p:spTree>
    <p:extLst>
      <p:ext uri="{BB962C8B-B14F-4D97-AF65-F5344CB8AC3E}">
        <p14:creationId xmlns:p14="http://schemas.microsoft.com/office/powerpoint/2010/main" val="3497893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62722"/>
          </a:xfrm>
        </p:spPr>
        <p:txBody>
          <a:bodyPr>
            <a:normAutofit fontScale="90000"/>
          </a:bodyPr>
          <a:lstStyle/>
          <a:p>
            <a:r>
              <a:rPr lang="en-US" dirty="0"/>
              <a:t>Outline Example</a:t>
            </a:r>
          </a:p>
        </p:txBody>
      </p:sp>
      <p:sp>
        <p:nvSpPr>
          <p:cNvPr id="3" name="Content Placeholder 2"/>
          <p:cNvSpPr>
            <a:spLocks noGrp="1"/>
          </p:cNvSpPr>
          <p:nvPr>
            <p:ph idx="1"/>
          </p:nvPr>
        </p:nvSpPr>
        <p:spPr>
          <a:xfrm>
            <a:off x="838200" y="1358154"/>
            <a:ext cx="10515600" cy="5782234"/>
          </a:xfrm>
        </p:spPr>
        <p:txBody>
          <a:bodyPr>
            <a:normAutofit fontScale="55000" lnSpcReduction="20000"/>
          </a:bodyPr>
          <a:lstStyle/>
          <a:p>
            <a:pPr marL="0" indent="0">
              <a:buNone/>
            </a:pPr>
            <a:r>
              <a:rPr lang="en-US" b="1" i="1" dirty="0"/>
              <a:t>Introduction: </a:t>
            </a:r>
            <a:r>
              <a:rPr lang="en-US" i="1" dirty="0"/>
              <a:t>provide a catch/ hook to engage the reader (optional), then, most importantly, write out the THESIS STATEMENT!</a:t>
            </a:r>
            <a:endParaRPr lang="en-US" b="1" i="1" dirty="0"/>
          </a:p>
          <a:p>
            <a:pPr>
              <a:buNone/>
            </a:pPr>
            <a:r>
              <a:rPr lang="en-US" b="1" dirty="0"/>
              <a:t>    		 </a:t>
            </a:r>
            <a:r>
              <a:rPr lang="en-US" dirty="0"/>
              <a:t>Thesis statement: “Although economists are divided on many points, most of them agree that economic prosperity for a 	country depends on factors A, B, and C.”</a:t>
            </a:r>
            <a:endParaRPr lang="en-US" b="1" dirty="0"/>
          </a:p>
          <a:p>
            <a:pPr marL="0" indent="0">
              <a:buNone/>
            </a:pPr>
            <a:r>
              <a:rPr lang="en-US" b="1" i="1" dirty="0"/>
              <a:t>Paragraph 1: </a:t>
            </a:r>
            <a:r>
              <a:rPr lang="en-US" i="1" dirty="0"/>
              <a:t>this paragraph is ALL ABOUT A, and nothing else! Address everything you think is important about item A.</a:t>
            </a:r>
          </a:p>
          <a:p>
            <a:pPr marL="0" indent="0">
              <a:buNone/>
            </a:pPr>
            <a:br>
              <a:rPr lang="en-US" dirty="0"/>
            </a:br>
            <a:r>
              <a:rPr lang="en-US" dirty="0"/>
              <a:t>	Topic sentence: "Item A is defined as... Item A is unique and important..." </a:t>
            </a:r>
            <a:br>
              <a:rPr lang="en-US" dirty="0"/>
            </a:br>
            <a:endParaRPr lang="en-US" dirty="0"/>
          </a:p>
          <a:p>
            <a:pPr marL="0" indent="0">
              <a:buNone/>
            </a:pPr>
            <a:r>
              <a:rPr lang="en-US" b="1" i="1" dirty="0"/>
              <a:t>Paragraph 2: </a:t>
            </a:r>
            <a:r>
              <a:rPr lang="en-US" i="1" dirty="0"/>
              <a:t>this paragraph is ALL ABOUT B, and nothing else--except for possibly relating B to A! Address everything you think is important about item B</a:t>
            </a:r>
            <a:endParaRPr lang="en-US" dirty="0"/>
          </a:p>
          <a:p>
            <a:pPr marL="0" indent="0">
              <a:buNone/>
            </a:pPr>
            <a:r>
              <a:rPr lang="en-US" dirty="0"/>
              <a:t>	Topic sentence: "In addition to item A, economists consider item B as nearly as important... </a:t>
            </a:r>
          </a:p>
          <a:p>
            <a:pPr marL="0" indent="0">
              <a:buNone/>
            </a:pPr>
            <a:r>
              <a:rPr lang="en-US" dirty="0"/>
              <a:t> 	Follow-up topic sentences for more complex arguments: “The main features of item B are X, Y, and Z... Item B is influential 	on activity q..." </a:t>
            </a:r>
          </a:p>
          <a:p>
            <a:pPr marL="0" indent="0">
              <a:buNone/>
            </a:pPr>
            <a:r>
              <a:rPr lang="en-US" b="1" i="1" dirty="0"/>
              <a:t>Paragraph 3: </a:t>
            </a:r>
            <a:r>
              <a:rPr lang="en-US" i="1" dirty="0"/>
              <a:t>this paragraph is ALL ABOUT C. Focus on a smooth TRANSITION from talking about A/B to talking about C. Again, only bring up items A and B in relation to C—if you have something extra to say about items A or B by themselves, that should go in paragraph 1 or 2 above. </a:t>
            </a:r>
            <a:endParaRPr lang="en-US" dirty="0"/>
          </a:p>
          <a:p>
            <a:pPr marL="0" indent="0">
              <a:buNone/>
            </a:pPr>
            <a:r>
              <a:rPr lang="en-US" dirty="0"/>
              <a:t>	Topic sentence: “Finally, economists consider the importance of item C… like/ unlike items A and B… Item C has a major 	impact on L, M, and P…</a:t>
            </a:r>
          </a:p>
          <a:p>
            <a:pPr marL="0" indent="0">
              <a:buNone/>
            </a:pPr>
            <a:r>
              <a:rPr lang="en-US" b="1" i="1" dirty="0"/>
              <a:t>Conclusion/ summary</a:t>
            </a:r>
            <a:r>
              <a:rPr lang="en-US" i="1" dirty="0"/>
              <a:t>: restate the thesis (in a more generalized form if possible) and BRIEFLY summarize EVERYTHING you addressed in the essay. Optional: you may also raise implications of your arguments for future research, public policy application, etc.</a:t>
            </a:r>
            <a:endParaRPr lang="en-US" dirty="0"/>
          </a:p>
          <a:p>
            <a:pPr marL="0" indent="0">
              <a:buNone/>
            </a:pPr>
            <a:r>
              <a:rPr lang="en-US" dirty="0"/>
              <a:t>	Topic sentence “The success of our economy depends on the proper recognition of the effects of A, B, and C… </a:t>
            </a:r>
          </a:p>
        </p:txBody>
      </p:sp>
    </p:spTree>
    <p:extLst>
      <p:ext uri="{BB962C8B-B14F-4D97-AF65-F5344CB8AC3E}">
        <p14:creationId xmlns:p14="http://schemas.microsoft.com/office/powerpoint/2010/main" val="2543021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 Sentences</a:t>
            </a:r>
          </a:p>
        </p:txBody>
      </p:sp>
      <p:sp>
        <p:nvSpPr>
          <p:cNvPr id="3" name="Content Placeholder 2"/>
          <p:cNvSpPr>
            <a:spLocks noGrp="1"/>
          </p:cNvSpPr>
          <p:nvPr>
            <p:ph idx="1"/>
          </p:nvPr>
        </p:nvSpPr>
        <p:spPr/>
        <p:txBody>
          <a:bodyPr/>
          <a:lstStyle/>
          <a:p>
            <a:pPr marL="0" indent="0">
              <a:buNone/>
            </a:pPr>
            <a:r>
              <a:rPr lang="en-US" dirty="0"/>
              <a:t>Next to a strong thesis, topic sentences are the most useful tool for good writing. Good topic sentences connect the ideas to each paragraph to each other and to your thesis, and keep the essay flowing steadily from point to point. </a:t>
            </a:r>
          </a:p>
          <a:p>
            <a:pPr marL="0" indent="0">
              <a:buNone/>
            </a:pPr>
            <a:r>
              <a:rPr lang="en-US" dirty="0"/>
              <a:t>Each paragraph should begin with a topic sentence—a sentence that lays out in brief form what the paragraph is about. Topic sentences should also contain “transition” language that connects the ideas in the current paragraph to the previous paragraph(s) and/or the general theme (thesis statement) of the entire essay.</a:t>
            </a:r>
          </a:p>
        </p:txBody>
      </p:sp>
    </p:spTree>
    <p:extLst>
      <p:ext uri="{BB962C8B-B14F-4D97-AF65-F5344CB8AC3E}">
        <p14:creationId xmlns:p14="http://schemas.microsoft.com/office/powerpoint/2010/main" val="2663031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Rewriting</a:t>
            </a:r>
          </a:p>
        </p:txBody>
      </p:sp>
      <p:sp>
        <p:nvSpPr>
          <p:cNvPr id="3" name="Content Placeholder 2"/>
          <p:cNvSpPr>
            <a:spLocks noGrp="1"/>
          </p:cNvSpPr>
          <p:nvPr>
            <p:ph idx="1"/>
          </p:nvPr>
        </p:nvSpPr>
        <p:spPr/>
        <p:txBody>
          <a:bodyPr>
            <a:normAutofit lnSpcReduction="10000"/>
          </a:bodyPr>
          <a:lstStyle/>
          <a:p>
            <a:pPr marL="0" indent="0">
              <a:buNone/>
            </a:pPr>
            <a:r>
              <a:rPr lang="en-US" dirty="0"/>
              <a:t>Do you want to take your writing from adequate to excellent? There is no substitute for rewriting. </a:t>
            </a:r>
          </a:p>
          <a:p>
            <a:pPr marL="0" indent="0">
              <a:buNone/>
            </a:pPr>
            <a:endParaRPr lang="en-US" dirty="0"/>
          </a:p>
          <a:p>
            <a:pPr marL="0" indent="0">
              <a:buNone/>
            </a:pPr>
            <a:r>
              <a:rPr lang="en-US" dirty="0"/>
              <a:t>Rewriting Tips</a:t>
            </a:r>
          </a:p>
          <a:p>
            <a:r>
              <a:rPr lang="en-US" dirty="0"/>
              <a:t>Wait at least a day between writing and rewriting—approach your project with fresh eyes and a calm mind.</a:t>
            </a:r>
          </a:p>
          <a:p>
            <a:r>
              <a:rPr lang="en-US" dirty="0"/>
              <a:t>Don’t be afraid to cut! Make every word, every sentence justify its place in your essay. Good writing is brief and to the point. </a:t>
            </a:r>
          </a:p>
          <a:p>
            <a:r>
              <a:rPr lang="en-US" dirty="0"/>
              <a:t>Read your work aloud before rewriting—often errors or poor construction will appear more obvious in oral speech.</a:t>
            </a:r>
          </a:p>
        </p:txBody>
      </p:sp>
    </p:spTree>
    <p:extLst>
      <p:ext uri="{BB962C8B-B14F-4D97-AF65-F5344CB8AC3E}">
        <p14:creationId xmlns:p14="http://schemas.microsoft.com/office/powerpoint/2010/main" val="1430076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Style Guidelines</a:t>
            </a:r>
          </a:p>
        </p:txBody>
      </p:sp>
      <p:sp>
        <p:nvSpPr>
          <p:cNvPr id="3" name="Content Placeholder 2"/>
          <p:cNvSpPr>
            <a:spLocks noGrp="1"/>
          </p:cNvSpPr>
          <p:nvPr>
            <p:ph idx="1"/>
          </p:nvPr>
        </p:nvSpPr>
        <p:spPr/>
        <p:txBody>
          <a:bodyPr/>
          <a:lstStyle/>
          <a:p>
            <a:pPr marL="0" indent="0">
              <a:buNone/>
            </a:pPr>
            <a:r>
              <a:rPr lang="en-US" dirty="0"/>
              <a:t>Good writing is as much an art as a science—there is no one right way to write so as to engage and persuade your reader. That being said, there are common pitfalls to avoid. While this list is not exhaustive, the following are some common stylistic problems to avoid.</a:t>
            </a:r>
          </a:p>
          <a:p>
            <a:pPr marL="0" indent="0">
              <a:buNone/>
            </a:pPr>
            <a:endParaRPr lang="en-US" dirty="0"/>
          </a:p>
          <a:p>
            <a:endParaRPr lang="en-US" dirty="0"/>
          </a:p>
        </p:txBody>
      </p:sp>
    </p:spTree>
    <p:extLst>
      <p:ext uri="{BB962C8B-B14F-4D97-AF65-F5344CB8AC3E}">
        <p14:creationId xmlns:p14="http://schemas.microsoft.com/office/powerpoint/2010/main" val="3884851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Passive verb voice</a:t>
            </a:r>
            <a:br>
              <a:rPr lang="en-US" dirty="0"/>
            </a:br>
            <a:endParaRPr lang="en-US" dirty="0"/>
          </a:p>
        </p:txBody>
      </p:sp>
      <p:sp>
        <p:nvSpPr>
          <p:cNvPr id="3" name="Content Placeholder 2"/>
          <p:cNvSpPr>
            <a:spLocks noGrp="1"/>
          </p:cNvSpPr>
          <p:nvPr>
            <p:ph idx="1"/>
          </p:nvPr>
        </p:nvSpPr>
        <p:spPr>
          <a:xfrm>
            <a:off x="838200" y="1425388"/>
            <a:ext cx="10515600" cy="4751575"/>
          </a:xfrm>
        </p:spPr>
        <p:txBody>
          <a:bodyPr>
            <a:normAutofit lnSpcReduction="10000"/>
          </a:bodyPr>
          <a:lstStyle/>
          <a:p>
            <a:pPr marL="0" lvl="1" indent="0">
              <a:buNone/>
            </a:pPr>
            <a:r>
              <a:rPr lang="en-US" sz="3000" dirty="0"/>
              <a:t>Sentences are typically structured in subject-verb-object form. For example: “The dog crossed the road.” In this sentence the subject (the dog) does an action (crosses) to an object (the road). Passive construction flips the subject and object: “The road was crossed by the dog.” Passive verb voice is not inherently evil, but its overuse can cause clunky, ineffective writing. Passive voice should be avoided as much as possible—</a:t>
            </a:r>
            <a:r>
              <a:rPr lang="en-US" sz="3000" dirty="0" err="1"/>
              <a:t>er</a:t>
            </a:r>
            <a:r>
              <a:rPr lang="en-US" sz="3000" dirty="0"/>
              <a:t>, that is, avoid passive voice!</a:t>
            </a:r>
          </a:p>
          <a:p>
            <a:pPr marL="0" indent="0">
              <a:buNone/>
            </a:pPr>
            <a:endParaRPr lang="en-US" dirty="0"/>
          </a:p>
          <a:p>
            <a:pPr marL="0" indent="0">
              <a:buNone/>
            </a:pPr>
            <a:r>
              <a:rPr lang="en-US" b="1" dirty="0"/>
              <a:t>Example</a:t>
            </a:r>
          </a:p>
          <a:p>
            <a:pPr marL="914400" indent="-914400">
              <a:buNone/>
            </a:pPr>
            <a:r>
              <a:rPr lang="en-US" sz="2400" i="1" dirty="0"/>
              <a:t>Bad: </a:t>
            </a:r>
            <a:r>
              <a:rPr lang="en-US" sz="2400" dirty="0"/>
              <a:t>“The bad effects of the tax hike could not be seen immediately.”  </a:t>
            </a:r>
          </a:p>
          <a:p>
            <a:pPr marL="914400" indent="-914400">
              <a:buNone/>
            </a:pPr>
            <a:r>
              <a:rPr lang="en-US" sz="2400" i="1" dirty="0"/>
              <a:t>Good: </a:t>
            </a:r>
            <a:r>
              <a:rPr lang="en-US" sz="2400" dirty="0"/>
              <a:t>“The public did not immediately realize the harmful effects of the tax hike.”</a:t>
            </a:r>
            <a:endParaRPr lang="en-US" sz="2400" i="1" dirty="0"/>
          </a:p>
          <a:p>
            <a:pPr marL="0" indent="0">
              <a:buNone/>
            </a:pPr>
            <a:endParaRPr lang="en-US" dirty="0"/>
          </a:p>
        </p:txBody>
      </p:sp>
    </p:spTree>
    <p:extLst>
      <p:ext uri="{BB962C8B-B14F-4D97-AF65-F5344CB8AC3E}">
        <p14:creationId xmlns:p14="http://schemas.microsoft.com/office/powerpoint/2010/main" val="6957377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a:t>
            </a:r>
            <a:r>
              <a:rPr lang="en-US" baseline="30000" dirty="0"/>
              <a:t>st</a:t>
            </a:r>
            <a:r>
              <a:rPr lang="en-US" dirty="0"/>
              <a:t> or 2</a:t>
            </a:r>
            <a:r>
              <a:rPr lang="en-US" baseline="30000" dirty="0"/>
              <a:t>nd</a:t>
            </a:r>
            <a:r>
              <a:rPr lang="en-US" dirty="0"/>
              <a:t> person verb usage</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dirty="0"/>
              <a:t>Use of first person (I, we) or second person (you) subject is not proper for formal, academic writing. Stick to third person, even if it sounds more awkward than the conversational tone of first or second person. </a:t>
            </a:r>
          </a:p>
          <a:p>
            <a:endParaRPr lang="en-US" dirty="0"/>
          </a:p>
          <a:p>
            <a:endParaRPr lang="en-US" dirty="0"/>
          </a:p>
          <a:p>
            <a:pPr marL="0" indent="0">
              <a:buNone/>
            </a:pPr>
            <a:r>
              <a:rPr lang="en-US" b="1" dirty="0"/>
              <a:t>Example</a:t>
            </a:r>
          </a:p>
          <a:p>
            <a:pPr marL="914400" indent="-914400">
              <a:buNone/>
            </a:pPr>
            <a:r>
              <a:rPr lang="en-US" i="1" dirty="0"/>
              <a:t>Bad: </a:t>
            </a:r>
            <a:r>
              <a:rPr lang="en-US" dirty="0"/>
              <a:t>“I start with providing an overview of the monetary and fiscal policies used by the Fed, then I illustrate how they affect the economy.”   </a:t>
            </a:r>
          </a:p>
          <a:p>
            <a:pPr marL="914400" indent="-914400">
              <a:buNone/>
            </a:pPr>
            <a:r>
              <a:rPr lang="en-US" i="1" dirty="0"/>
              <a:t>Good: </a:t>
            </a:r>
            <a:r>
              <a:rPr lang="en-US" dirty="0"/>
              <a:t>“This paper will start by providing an overview of the monetary and fiscal policies used by the Fed, then moves on to illustrate how they affect the economy.”   </a:t>
            </a:r>
          </a:p>
        </p:txBody>
      </p:sp>
    </p:spTree>
    <p:extLst>
      <p:ext uri="{BB962C8B-B14F-4D97-AF65-F5344CB8AC3E}">
        <p14:creationId xmlns:p14="http://schemas.microsoft.com/office/powerpoint/2010/main" val="24025883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Comma Splices</a:t>
            </a:r>
          </a:p>
        </p:txBody>
      </p:sp>
      <p:sp>
        <p:nvSpPr>
          <p:cNvPr id="3" name="Content Placeholder 2"/>
          <p:cNvSpPr>
            <a:spLocks noGrp="1"/>
          </p:cNvSpPr>
          <p:nvPr>
            <p:ph idx="1"/>
          </p:nvPr>
        </p:nvSpPr>
        <p:spPr/>
        <p:txBody>
          <a:bodyPr>
            <a:normAutofit fontScale="92500" lnSpcReduction="10000"/>
          </a:bodyPr>
          <a:lstStyle/>
          <a:p>
            <a:pPr marL="0" indent="0">
              <a:buNone/>
            </a:pPr>
            <a:r>
              <a:rPr lang="en-US" dirty="0"/>
              <a:t>Do use a comma:</a:t>
            </a:r>
          </a:p>
          <a:p>
            <a:r>
              <a:rPr lang="en-US" dirty="0"/>
              <a:t>When listing more than two items (bread, peanut butter, and jelly)</a:t>
            </a:r>
          </a:p>
          <a:p>
            <a:r>
              <a:rPr lang="en-US" dirty="0"/>
              <a:t>When joining a dependent to an independent clause (see slide 19 for more on clauses)</a:t>
            </a:r>
          </a:p>
          <a:p>
            <a:pPr marL="457200" lvl="1" indent="0">
              <a:buNone/>
            </a:pPr>
            <a:r>
              <a:rPr lang="en-US" dirty="0"/>
              <a:t>“Once we get there, you guys can set up the tent.”</a:t>
            </a:r>
          </a:p>
          <a:p>
            <a:endParaRPr lang="en-US" dirty="0"/>
          </a:p>
          <a:p>
            <a:pPr marL="0" indent="0">
              <a:buNone/>
            </a:pPr>
            <a:r>
              <a:rPr lang="en-US" dirty="0"/>
              <a:t>Don’t use a comma:</a:t>
            </a:r>
          </a:p>
          <a:p>
            <a:r>
              <a:rPr lang="en-US" dirty="0"/>
              <a:t>When joining two independent clauses (use a semicolon or a conjunction)</a:t>
            </a:r>
          </a:p>
          <a:p>
            <a:pPr marL="457200" lvl="1" indent="0">
              <a:buNone/>
            </a:pPr>
            <a:r>
              <a:rPr lang="en-US" dirty="0"/>
              <a:t>“We are going to go; you all can do what you want.” </a:t>
            </a:r>
          </a:p>
          <a:p>
            <a:pPr marL="457200" lvl="1" indent="0">
              <a:buNone/>
            </a:pPr>
            <a:r>
              <a:rPr lang="en-US" dirty="0"/>
              <a:t>“It’s raining outside and the game is delayed.” (Not “It’s raining outside, and the game is delayed.”)</a:t>
            </a:r>
          </a:p>
          <a:p>
            <a:pPr lvl="1"/>
            <a:endParaRPr lang="en-US" dirty="0"/>
          </a:p>
        </p:txBody>
      </p:sp>
    </p:spTree>
    <p:extLst>
      <p:ext uri="{BB962C8B-B14F-4D97-AF65-F5344CB8AC3E}">
        <p14:creationId xmlns:p14="http://schemas.microsoft.com/office/powerpoint/2010/main" val="17899810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Apostrophe Rules</a:t>
            </a:r>
          </a:p>
        </p:txBody>
      </p:sp>
      <p:sp>
        <p:nvSpPr>
          <p:cNvPr id="3" name="Content Placeholder 2"/>
          <p:cNvSpPr>
            <a:spLocks noGrp="1"/>
          </p:cNvSpPr>
          <p:nvPr>
            <p:ph idx="1"/>
          </p:nvPr>
        </p:nvSpPr>
        <p:spPr/>
        <p:txBody>
          <a:bodyPr>
            <a:normAutofit lnSpcReduction="10000"/>
          </a:bodyPr>
          <a:lstStyle/>
          <a:p>
            <a:r>
              <a:rPr lang="en-US" dirty="0"/>
              <a:t>Use an apostrophe ONLY:</a:t>
            </a:r>
          </a:p>
          <a:p>
            <a:pPr lvl="1"/>
            <a:r>
              <a:rPr lang="en-US" dirty="0"/>
              <a:t>To indicate </a:t>
            </a:r>
            <a:r>
              <a:rPr lang="en-US" i="1" dirty="0"/>
              <a:t>possessive case </a:t>
            </a:r>
            <a:r>
              <a:rPr lang="en-US" dirty="0"/>
              <a:t>of a noun. Apostrophe before the final s for singular nouns, after the final s for plural nouns.</a:t>
            </a:r>
          </a:p>
          <a:p>
            <a:pPr marL="914400" lvl="2" indent="0">
              <a:buNone/>
            </a:pPr>
            <a:r>
              <a:rPr lang="en-US" dirty="0"/>
              <a:t>“Hand me Mary’s backpack, please.”</a:t>
            </a:r>
          </a:p>
          <a:p>
            <a:pPr marL="914400" lvl="2" indent="0">
              <a:buNone/>
            </a:pPr>
            <a:r>
              <a:rPr lang="en-US" dirty="0"/>
              <a:t>“The lawyers’ lobby is very powerful in Washington.”</a:t>
            </a:r>
          </a:p>
          <a:p>
            <a:pPr marL="914400" lvl="2" indent="0">
              <a:buNone/>
            </a:pPr>
            <a:r>
              <a:rPr lang="en-US" dirty="0"/>
              <a:t>“Is that the Watts’ car?” (note: no extra s needed for a word that ends in s)</a:t>
            </a:r>
          </a:p>
          <a:p>
            <a:pPr lvl="2"/>
            <a:r>
              <a:rPr lang="en-US" dirty="0"/>
              <a:t>Exception: The 3</a:t>
            </a:r>
            <a:r>
              <a:rPr lang="en-US" baseline="30000" dirty="0"/>
              <a:t>rd</a:t>
            </a:r>
            <a:r>
              <a:rPr lang="en-US" dirty="0"/>
              <a:t> person singular possessive pronoun </a:t>
            </a:r>
            <a:r>
              <a:rPr lang="en-US" i="1" dirty="0"/>
              <a:t>its</a:t>
            </a:r>
            <a:r>
              <a:rPr lang="en-US" dirty="0"/>
              <a:t> does not get an apostrophe</a:t>
            </a:r>
          </a:p>
          <a:p>
            <a:pPr marL="2286000" lvl="5" indent="0">
              <a:buNone/>
            </a:pPr>
            <a:r>
              <a:rPr lang="en-US" dirty="0"/>
              <a:t>“The college has its own power plant.”</a:t>
            </a:r>
          </a:p>
          <a:p>
            <a:pPr lvl="2"/>
            <a:endParaRPr lang="en-US" dirty="0"/>
          </a:p>
          <a:p>
            <a:pPr lvl="1"/>
            <a:r>
              <a:rPr lang="en-US" dirty="0"/>
              <a:t>To mark out omitted words or letters from a </a:t>
            </a:r>
            <a:r>
              <a:rPr lang="en-US" i="1" dirty="0"/>
              <a:t>contraction</a:t>
            </a:r>
            <a:r>
              <a:rPr lang="en-US" dirty="0"/>
              <a:t>.</a:t>
            </a:r>
          </a:p>
          <a:p>
            <a:pPr marL="914400" lvl="2" indent="0">
              <a:buNone/>
            </a:pPr>
            <a:r>
              <a:rPr lang="en-US" dirty="0"/>
              <a:t>“That kid’s got talent.” (“That </a:t>
            </a:r>
            <a:r>
              <a:rPr lang="en-US" i="1" dirty="0"/>
              <a:t>kid has</a:t>
            </a:r>
            <a:r>
              <a:rPr lang="en-US" dirty="0"/>
              <a:t> got talent.”)</a:t>
            </a:r>
          </a:p>
          <a:p>
            <a:pPr marL="914400" lvl="2" indent="0">
              <a:buNone/>
            </a:pPr>
            <a:r>
              <a:rPr lang="en-US" dirty="0"/>
              <a:t>“It’s going to rain tonight.” (“</a:t>
            </a:r>
            <a:r>
              <a:rPr lang="en-US" i="1" dirty="0"/>
              <a:t>It is </a:t>
            </a:r>
            <a:r>
              <a:rPr lang="en-US" dirty="0"/>
              <a:t>going to rain tonight.”)</a:t>
            </a:r>
          </a:p>
          <a:p>
            <a:pPr marL="914400" lvl="2" indent="0">
              <a:buNone/>
            </a:pPr>
            <a:r>
              <a:rPr lang="en-US" dirty="0"/>
              <a:t>“There’s the place where we used to live.” (“</a:t>
            </a:r>
            <a:r>
              <a:rPr lang="en-US" i="1" dirty="0"/>
              <a:t>There is </a:t>
            </a:r>
            <a:r>
              <a:rPr lang="en-US" dirty="0"/>
              <a:t>the place where we used to live.”)</a:t>
            </a:r>
          </a:p>
          <a:p>
            <a:pPr marL="2286000" lvl="5" indent="0">
              <a:buNone/>
            </a:pPr>
            <a:endParaRPr lang="en-US" dirty="0"/>
          </a:p>
        </p:txBody>
      </p:sp>
    </p:spTree>
    <p:extLst>
      <p:ext uri="{BB962C8B-B14F-4D97-AF65-F5344CB8AC3E}">
        <p14:creationId xmlns:p14="http://schemas.microsoft.com/office/powerpoint/2010/main" val="4064161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Number Agreement</a:t>
            </a:r>
          </a:p>
        </p:txBody>
      </p:sp>
      <p:sp>
        <p:nvSpPr>
          <p:cNvPr id="3" name="Content Placeholder 2"/>
          <p:cNvSpPr>
            <a:spLocks noGrp="1"/>
          </p:cNvSpPr>
          <p:nvPr>
            <p:ph idx="1"/>
          </p:nvPr>
        </p:nvSpPr>
        <p:spPr>
          <a:xfrm>
            <a:off x="838200" y="1825625"/>
            <a:ext cx="10515600" cy="4508914"/>
          </a:xfrm>
        </p:spPr>
        <p:txBody>
          <a:bodyPr>
            <a:normAutofit fontScale="85000" lnSpcReduction="20000"/>
          </a:bodyPr>
          <a:lstStyle/>
          <a:p>
            <a:pPr marL="0" indent="0">
              <a:buNone/>
            </a:pPr>
            <a:r>
              <a:rPr lang="en-US" dirty="0"/>
              <a:t>Subject-Verb: singular subject, singular verb; plural subject, plural verb</a:t>
            </a:r>
          </a:p>
          <a:p>
            <a:pPr marL="457200" lvl="1" indent="0">
              <a:buNone/>
            </a:pPr>
            <a:r>
              <a:rPr lang="en-US" sz="2000" i="1" dirty="0"/>
              <a:t>Bad</a:t>
            </a:r>
            <a:r>
              <a:rPr lang="en-US" sz="2000" dirty="0"/>
              <a:t>: “People does great work when they face strong incentives.” </a:t>
            </a:r>
          </a:p>
          <a:p>
            <a:pPr marL="457200" lvl="1" indent="0">
              <a:buNone/>
            </a:pPr>
            <a:r>
              <a:rPr lang="en-US" sz="2000" i="1" dirty="0"/>
              <a:t>Good</a:t>
            </a:r>
            <a:r>
              <a:rPr lang="en-US" sz="2000" dirty="0"/>
              <a:t>: “People do great work when they face strong incentives.”</a:t>
            </a:r>
          </a:p>
          <a:p>
            <a:pPr marL="457200" lvl="1" indent="0">
              <a:buNone/>
            </a:pPr>
            <a:endParaRPr lang="en-US" sz="2000" i="1" dirty="0"/>
          </a:p>
          <a:p>
            <a:pPr marL="457200" lvl="1" indent="0">
              <a:buNone/>
            </a:pPr>
            <a:r>
              <a:rPr lang="en-US" sz="2000" i="1" dirty="0"/>
              <a:t>Bad</a:t>
            </a:r>
            <a:r>
              <a:rPr lang="en-US" sz="2000" dirty="0"/>
              <a:t>: “Each and every student are writing effectively. Each student love economics.”</a:t>
            </a:r>
          </a:p>
          <a:p>
            <a:pPr marL="457200" lvl="1" indent="0">
              <a:buNone/>
            </a:pPr>
            <a:r>
              <a:rPr lang="en-US" sz="2000" i="1" dirty="0"/>
              <a:t>Good</a:t>
            </a:r>
            <a:r>
              <a:rPr lang="en-US" sz="2000" dirty="0"/>
              <a:t>: “Each and every student is writing effectively. Each student loves economics.”</a:t>
            </a:r>
          </a:p>
          <a:p>
            <a:pPr marL="457200" lvl="1" indent="0">
              <a:buNone/>
            </a:pPr>
            <a:r>
              <a:rPr lang="en-US" sz="2000" b="1" dirty="0"/>
              <a:t>Note: “Each and every” is just a modifier here; </a:t>
            </a:r>
            <a:r>
              <a:rPr lang="en-US" sz="2000" b="1" i="1" dirty="0"/>
              <a:t>student</a:t>
            </a:r>
            <a:r>
              <a:rPr lang="en-US" sz="2000" b="1" dirty="0"/>
              <a:t> is the subject, and it’s singular.</a:t>
            </a:r>
          </a:p>
          <a:p>
            <a:pPr marL="457200" lvl="1" indent="0">
              <a:buNone/>
            </a:pPr>
            <a:endParaRPr lang="en-US" sz="2000" dirty="0"/>
          </a:p>
          <a:p>
            <a:pPr marL="0" indent="0">
              <a:buNone/>
            </a:pPr>
            <a:r>
              <a:rPr lang="en-US" dirty="0"/>
              <a:t>Noun-Pronoun: singular noun must take a singular pronoun; plural noun must take a plural pronoun</a:t>
            </a:r>
          </a:p>
          <a:p>
            <a:pPr marL="457200" lvl="1" indent="0">
              <a:buNone/>
            </a:pPr>
            <a:r>
              <a:rPr lang="en-US" sz="2000" i="1" dirty="0"/>
              <a:t>Bad</a:t>
            </a:r>
            <a:r>
              <a:rPr lang="en-US" sz="2000" dirty="0"/>
              <a:t>: “Each student has their own writing style.” </a:t>
            </a:r>
          </a:p>
          <a:p>
            <a:pPr marL="457200" lvl="1" indent="0">
              <a:buNone/>
            </a:pPr>
            <a:r>
              <a:rPr lang="en-US" sz="2000" i="1" dirty="0"/>
              <a:t>Good</a:t>
            </a:r>
            <a:r>
              <a:rPr lang="en-US" sz="2000" dirty="0"/>
              <a:t>: “Each student has his own writing style.” [“his or her” or just “her” are also acceptable]</a:t>
            </a:r>
          </a:p>
          <a:p>
            <a:pPr marL="457200" lvl="1" indent="0">
              <a:buNone/>
            </a:pPr>
            <a:r>
              <a:rPr lang="en-US" sz="2000" b="1" dirty="0"/>
              <a:t>Note here the pronoun “his”/ “his or her” represents the singular noun “student.”</a:t>
            </a:r>
          </a:p>
          <a:p>
            <a:pPr marL="457200" lvl="1" indent="0">
              <a:buNone/>
            </a:pPr>
            <a:endParaRPr lang="en-US" sz="2000" b="1" dirty="0"/>
          </a:p>
          <a:p>
            <a:pPr marL="457200" lvl="1" indent="0">
              <a:buNone/>
            </a:pPr>
            <a:r>
              <a:rPr lang="en-US" sz="2000" i="1" dirty="0"/>
              <a:t>Bad</a:t>
            </a:r>
            <a:r>
              <a:rPr lang="en-US" sz="2000" dirty="0"/>
              <a:t>: “We all have his or her own way of doing things.”</a:t>
            </a:r>
          </a:p>
          <a:p>
            <a:pPr marL="457200" lvl="1" indent="0">
              <a:buNone/>
            </a:pPr>
            <a:r>
              <a:rPr lang="en-US" sz="2000" i="1" dirty="0"/>
              <a:t>Good</a:t>
            </a:r>
            <a:r>
              <a:rPr lang="en-US" sz="2000" dirty="0"/>
              <a:t>: “We all have our own way of doing things.”</a:t>
            </a:r>
          </a:p>
          <a:p>
            <a:pPr marL="457200" lvl="1" indent="0">
              <a:buNone/>
            </a:pPr>
            <a:r>
              <a:rPr lang="en-US" sz="1900" b="1" dirty="0"/>
              <a:t>Here the possessive pronoun “our” must match up in number and person (1</a:t>
            </a:r>
            <a:r>
              <a:rPr lang="en-US" sz="1900" b="1" baseline="30000" dirty="0"/>
              <a:t>st</a:t>
            </a:r>
            <a:r>
              <a:rPr lang="en-US" sz="1900" b="1" dirty="0"/>
              <a:t>, 2</a:t>
            </a:r>
            <a:r>
              <a:rPr lang="en-US" sz="1900" b="1" baseline="30000" dirty="0"/>
              <a:t>nd</a:t>
            </a:r>
            <a:r>
              <a:rPr lang="en-US" sz="1900" b="1" dirty="0"/>
              <a:t>, or 3</a:t>
            </a:r>
            <a:r>
              <a:rPr lang="en-US" sz="1900" b="1" baseline="30000" dirty="0"/>
              <a:t>rd</a:t>
            </a:r>
            <a:r>
              <a:rPr lang="en-US" sz="1900" b="1" dirty="0"/>
              <a:t>) to subject pronoun “we.”</a:t>
            </a:r>
          </a:p>
          <a:p>
            <a:pPr marL="457200" lvl="1" indent="0">
              <a:buNone/>
            </a:pPr>
            <a:endParaRPr lang="en-US" sz="2000" dirty="0"/>
          </a:p>
          <a:p>
            <a:pPr marL="0" indent="0">
              <a:buNone/>
            </a:pPr>
            <a:endParaRPr lang="en-US" dirty="0"/>
          </a:p>
        </p:txBody>
      </p:sp>
    </p:spTree>
    <p:extLst>
      <p:ext uri="{BB962C8B-B14F-4D97-AF65-F5344CB8AC3E}">
        <p14:creationId xmlns:p14="http://schemas.microsoft.com/office/powerpoint/2010/main" val="1548846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40D73-3A93-4501-BD66-470F49D4703D}"/>
              </a:ext>
            </a:extLst>
          </p:cNvPr>
          <p:cNvSpPr>
            <a:spLocks noGrp="1"/>
          </p:cNvSpPr>
          <p:nvPr>
            <p:ph type="title"/>
          </p:nvPr>
        </p:nvSpPr>
        <p:spPr/>
        <p:txBody>
          <a:bodyPr/>
          <a:lstStyle/>
          <a:p>
            <a:r>
              <a:rPr lang="en-US" dirty="0"/>
              <a:t>Pronouns and Antecedents</a:t>
            </a:r>
          </a:p>
        </p:txBody>
      </p:sp>
      <p:sp>
        <p:nvSpPr>
          <p:cNvPr id="3" name="Content Placeholder 2">
            <a:extLst>
              <a:ext uri="{FF2B5EF4-FFF2-40B4-BE49-F238E27FC236}">
                <a16:creationId xmlns:a16="http://schemas.microsoft.com/office/drawing/2014/main" id="{E749B0BA-1365-4D41-A513-6CE3E9EA3F74}"/>
              </a:ext>
            </a:extLst>
          </p:cNvPr>
          <p:cNvSpPr>
            <a:spLocks noGrp="1"/>
          </p:cNvSpPr>
          <p:nvPr>
            <p:ph idx="1"/>
          </p:nvPr>
        </p:nvSpPr>
        <p:spPr/>
        <p:txBody>
          <a:bodyPr>
            <a:normAutofit fontScale="92500" lnSpcReduction="20000"/>
          </a:bodyPr>
          <a:lstStyle/>
          <a:p>
            <a:pPr marL="0" indent="0">
              <a:buNone/>
            </a:pPr>
            <a:r>
              <a:rPr lang="en-US" sz="2000" dirty="0"/>
              <a:t>Pronouns must </a:t>
            </a:r>
            <a:r>
              <a:rPr lang="en-US" sz="2000" i="1" dirty="0"/>
              <a:t>agree</a:t>
            </a:r>
            <a:r>
              <a:rPr lang="en-US" sz="2000" dirty="0"/>
              <a:t> with their antecedents (the nouns for which pronouns “stand in”) in person, number (see p. 13) and case.</a:t>
            </a:r>
          </a:p>
          <a:p>
            <a:pPr marL="0" indent="0">
              <a:buNone/>
            </a:pPr>
            <a:endParaRPr lang="en-US" sz="2000" dirty="0"/>
          </a:p>
          <a:p>
            <a:pPr marL="0" indent="0">
              <a:buNone/>
            </a:pPr>
            <a:r>
              <a:rPr lang="en-US" sz="2000" i="1" dirty="0"/>
              <a:t>Wrong: “Each student should be careful when writing their essays”</a:t>
            </a:r>
          </a:p>
          <a:p>
            <a:pPr marL="0" indent="0">
              <a:buNone/>
            </a:pPr>
            <a:endParaRPr lang="en-US" sz="2000" i="1" dirty="0"/>
          </a:p>
          <a:p>
            <a:pPr marL="0" indent="0">
              <a:buNone/>
            </a:pPr>
            <a:r>
              <a:rPr lang="en-US" sz="2000" i="1" dirty="0"/>
              <a:t>Correct: “Each student should be careful when writing his or her essay”</a:t>
            </a:r>
          </a:p>
          <a:p>
            <a:pPr marL="0" indent="0">
              <a:buNone/>
            </a:pPr>
            <a:r>
              <a:rPr lang="en-US" sz="2000" i="1" dirty="0"/>
              <a:t>Or:          “All students should be careful when writing their essays”</a:t>
            </a:r>
          </a:p>
          <a:p>
            <a:pPr marL="0" indent="0">
              <a:buNone/>
            </a:pPr>
            <a:endParaRPr lang="en-US" sz="2000" i="1" dirty="0"/>
          </a:p>
          <a:p>
            <a:pPr marL="0" indent="0">
              <a:buNone/>
            </a:pPr>
            <a:r>
              <a:rPr lang="en-US" sz="2000" dirty="0"/>
              <a:t>Antecedent references should be unambiguous. Avoid starting sentences with a pronoun, especially if there’s any chance the antecedent is unclear.</a:t>
            </a:r>
          </a:p>
          <a:p>
            <a:pPr marL="0" indent="0">
              <a:buNone/>
            </a:pPr>
            <a:endParaRPr lang="en-US" sz="2000" i="1" dirty="0"/>
          </a:p>
          <a:p>
            <a:pPr marL="0" indent="0">
              <a:buNone/>
            </a:pPr>
            <a:r>
              <a:rPr lang="en-US" sz="2000" i="1" dirty="0"/>
              <a:t>Wrong: It is the weakest part of the book.</a:t>
            </a:r>
          </a:p>
          <a:p>
            <a:pPr marL="0" indent="0">
              <a:buNone/>
            </a:pPr>
            <a:endParaRPr lang="en-US" sz="2000" i="1" dirty="0"/>
          </a:p>
          <a:p>
            <a:pPr marL="0" indent="0">
              <a:buNone/>
            </a:pPr>
            <a:r>
              <a:rPr lang="en-US" sz="2000" i="1" dirty="0"/>
              <a:t>Correct: The author’s claim about string theory is the weakest part of the book</a:t>
            </a:r>
          </a:p>
          <a:p>
            <a:pPr marL="0" indent="0">
              <a:buNone/>
            </a:pPr>
            <a:endParaRPr lang="en-US" dirty="0"/>
          </a:p>
        </p:txBody>
      </p:sp>
    </p:spTree>
    <p:extLst>
      <p:ext uri="{BB962C8B-B14F-4D97-AF65-F5344CB8AC3E}">
        <p14:creationId xmlns:p14="http://schemas.microsoft.com/office/powerpoint/2010/main" val="4031531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Prepositions</a:t>
            </a:r>
            <a:br>
              <a:rPr lang="en-US" dirty="0"/>
            </a:br>
            <a:r>
              <a:rPr lang="en-US" sz="2800" dirty="0"/>
              <a:t>[note: every preposition </a:t>
            </a:r>
            <a:r>
              <a:rPr lang="en-US" sz="2800" dirty="0">
                <a:highlight>
                  <a:srgbClr val="FFFF00"/>
                </a:highlight>
              </a:rPr>
              <a:t>on</a:t>
            </a:r>
            <a:r>
              <a:rPr lang="en-US" sz="2800" dirty="0"/>
              <a:t> this page is highlighted </a:t>
            </a:r>
            <a:r>
              <a:rPr lang="en-US" sz="2800" dirty="0">
                <a:highlight>
                  <a:srgbClr val="FFFF00"/>
                </a:highlight>
              </a:rPr>
              <a:t>in</a:t>
            </a:r>
            <a:r>
              <a:rPr lang="en-US" sz="2800" dirty="0"/>
              <a:t> yellow]</a:t>
            </a:r>
            <a:endParaRPr lang="en-US" dirty="0"/>
          </a:p>
        </p:txBody>
      </p:sp>
      <p:sp>
        <p:nvSpPr>
          <p:cNvPr id="3" name="Content Placeholder 2"/>
          <p:cNvSpPr>
            <a:spLocks noGrp="1"/>
          </p:cNvSpPr>
          <p:nvPr>
            <p:ph idx="1"/>
          </p:nvPr>
        </p:nvSpPr>
        <p:spPr>
          <a:xfrm>
            <a:off x="838200" y="1825624"/>
            <a:ext cx="10515600" cy="4694445"/>
          </a:xfrm>
        </p:spPr>
        <p:txBody>
          <a:bodyPr>
            <a:normAutofit fontScale="85000" lnSpcReduction="20000"/>
          </a:bodyPr>
          <a:lstStyle/>
          <a:p>
            <a:pPr marL="0" indent="0">
              <a:buNone/>
            </a:pPr>
            <a:r>
              <a:rPr lang="en-US" sz="2400" dirty="0"/>
              <a:t>Prepositions relate words </a:t>
            </a:r>
            <a:r>
              <a:rPr lang="en-US" sz="2400" dirty="0">
                <a:highlight>
                  <a:srgbClr val="FFFF00"/>
                </a:highlight>
              </a:rPr>
              <a:t>to</a:t>
            </a:r>
            <a:r>
              <a:rPr lang="en-US" sz="2400" dirty="0"/>
              <a:t> each other </a:t>
            </a:r>
            <a:r>
              <a:rPr lang="en-US" sz="2400" dirty="0">
                <a:highlight>
                  <a:srgbClr val="FFFF00"/>
                </a:highlight>
              </a:rPr>
              <a:t>with</a:t>
            </a:r>
            <a:r>
              <a:rPr lang="en-US" sz="2400" dirty="0"/>
              <a:t> respect </a:t>
            </a:r>
            <a:r>
              <a:rPr lang="en-US" sz="2400" dirty="0">
                <a:highlight>
                  <a:srgbClr val="FFFF00"/>
                </a:highlight>
              </a:rPr>
              <a:t>to</a:t>
            </a:r>
            <a:r>
              <a:rPr lang="en-US" sz="2400" dirty="0"/>
              <a:t> location, direction, position, time, etc. They are some </a:t>
            </a:r>
            <a:r>
              <a:rPr lang="en-US" sz="2400" dirty="0">
                <a:highlight>
                  <a:srgbClr val="FFFF00"/>
                </a:highlight>
              </a:rPr>
              <a:t>of</a:t>
            </a:r>
            <a:r>
              <a:rPr lang="en-US" sz="2400" dirty="0"/>
              <a:t> the most commonly used words </a:t>
            </a:r>
            <a:r>
              <a:rPr lang="en-US" sz="2400" dirty="0">
                <a:highlight>
                  <a:srgbClr val="FFFF00"/>
                </a:highlight>
              </a:rPr>
              <a:t>in</a:t>
            </a:r>
            <a:r>
              <a:rPr lang="en-US" sz="2400" dirty="0"/>
              <a:t> English and are thus subject </a:t>
            </a:r>
            <a:r>
              <a:rPr lang="en-US" sz="2400" dirty="0">
                <a:highlight>
                  <a:srgbClr val="FFFF00"/>
                </a:highlight>
              </a:rPr>
              <a:t>to</a:t>
            </a:r>
            <a:r>
              <a:rPr lang="en-US" sz="2400" dirty="0"/>
              <a:t> abuse. Here are some guidelines to follow </a:t>
            </a:r>
            <a:r>
              <a:rPr lang="en-US" sz="2400" dirty="0">
                <a:highlight>
                  <a:srgbClr val="FFFF00"/>
                </a:highlight>
              </a:rPr>
              <a:t>in</a:t>
            </a:r>
            <a:r>
              <a:rPr lang="en-US" sz="2400" dirty="0"/>
              <a:t> order </a:t>
            </a:r>
            <a:r>
              <a:rPr lang="en-US" sz="2400" dirty="0">
                <a:highlight>
                  <a:srgbClr val="FFFF00"/>
                </a:highlight>
              </a:rPr>
              <a:t>to</a:t>
            </a:r>
            <a:r>
              <a:rPr lang="en-US" sz="2400" dirty="0"/>
              <a:t> use prepositions well.</a:t>
            </a:r>
          </a:p>
          <a:p>
            <a:r>
              <a:rPr lang="en-US" sz="2400" dirty="0"/>
              <a:t>Avoid starting or ending sentences with prepositions.</a:t>
            </a:r>
          </a:p>
          <a:p>
            <a:pPr marL="457200" lvl="1" indent="0">
              <a:buNone/>
            </a:pPr>
            <a:r>
              <a:rPr lang="en-US" sz="2000" i="1" dirty="0"/>
              <a:t>Bad</a:t>
            </a:r>
            <a:r>
              <a:rPr lang="en-US" sz="2000" dirty="0"/>
              <a:t>: “</a:t>
            </a:r>
            <a:r>
              <a:rPr lang="en-US" sz="2000" dirty="0">
                <a:highlight>
                  <a:srgbClr val="FFFF00"/>
                </a:highlight>
              </a:rPr>
              <a:t>With</a:t>
            </a:r>
            <a:r>
              <a:rPr lang="en-US" sz="2000" dirty="0"/>
              <a:t> economics knowledge people can make better decisions.”</a:t>
            </a:r>
          </a:p>
          <a:p>
            <a:pPr marL="457200" lvl="1" indent="0">
              <a:buNone/>
            </a:pPr>
            <a:r>
              <a:rPr lang="en-US" sz="2000" i="1" dirty="0"/>
              <a:t>Good</a:t>
            </a:r>
            <a:r>
              <a:rPr lang="en-US" sz="2000" dirty="0"/>
              <a:t>: “Economics knowledge enables people to make better decisions.”</a:t>
            </a:r>
          </a:p>
          <a:p>
            <a:pPr marL="457200" lvl="1" indent="0">
              <a:buNone/>
            </a:pPr>
            <a:r>
              <a:rPr lang="en-US" sz="2000" i="1" dirty="0"/>
              <a:t>Bad</a:t>
            </a:r>
            <a:r>
              <a:rPr lang="en-US" sz="2000" dirty="0"/>
              <a:t>: “</a:t>
            </a:r>
            <a:r>
              <a:rPr lang="en-US" sz="2000" dirty="0">
                <a:highlight>
                  <a:srgbClr val="FFFF00"/>
                </a:highlight>
              </a:rPr>
              <a:t>In</a:t>
            </a:r>
            <a:r>
              <a:rPr lang="en-US" sz="2000" dirty="0"/>
              <a:t> trading </a:t>
            </a:r>
            <a:r>
              <a:rPr lang="en-US" sz="2000" dirty="0">
                <a:highlight>
                  <a:srgbClr val="FFFF00"/>
                </a:highlight>
              </a:rPr>
              <a:t>with</a:t>
            </a:r>
            <a:r>
              <a:rPr lang="en-US" sz="2000" dirty="0"/>
              <a:t> other countries everybody can have more goods.”</a:t>
            </a:r>
          </a:p>
          <a:p>
            <a:pPr marL="457200" lvl="1" indent="0">
              <a:buNone/>
            </a:pPr>
            <a:r>
              <a:rPr lang="en-US" sz="2000" i="1" dirty="0"/>
              <a:t>Good</a:t>
            </a:r>
            <a:r>
              <a:rPr lang="en-US" sz="2000" dirty="0"/>
              <a:t>: “International trade allows everybody to have more </a:t>
            </a:r>
            <a:r>
              <a:rPr lang="en-US" sz="2000" dirty="0">
                <a:highlight>
                  <a:srgbClr val="FFFF00"/>
                </a:highlight>
              </a:rPr>
              <a:t>of</a:t>
            </a:r>
            <a:r>
              <a:rPr lang="en-US" sz="2000" dirty="0"/>
              <a:t> everything.”</a:t>
            </a:r>
          </a:p>
          <a:p>
            <a:pPr marL="457200" lvl="1" indent="0">
              <a:buNone/>
            </a:pPr>
            <a:r>
              <a:rPr lang="en-US" sz="2000" i="1" dirty="0"/>
              <a:t>Bad</a:t>
            </a:r>
            <a:r>
              <a:rPr lang="en-US" sz="2000" dirty="0"/>
              <a:t>: “He is fun to play tennis </a:t>
            </a:r>
            <a:r>
              <a:rPr lang="en-US" sz="2000" dirty="0">
                <a:highlight>
                  <a:srgbClr val="FFFF00"/>
                </a:highlight>
              </a:rPr>
              <a:t>with</a:t>
            </a:r>
            <a:r>
              <a:rPr lang="en-US" sz="2000" dirty="0"/>
              <a:t>.”</a:t>
            </a:r>
          </a:p>
          <a:p>
            <a:pPr marL="457200" lvl="1" indent="0">
              <a:buNone/>
            </a:pPr>
            <a:r>
              <a:rPr lang="en-US" sz="2000" i="1" dirty="0"/>
              <a:t>Good</a:t>
            </a:r>
            <a:r>
              <a:rPr lang="en-US" sz="2000" dirty="0"/>
              <a:t>: “I enjoy playing tennis </a:t>
            </a:r>
            <a:r>
              <a:rPr lang="en-US" sz="2000" dirty="0">
                <a:highlight>
                  <a:srgbClr val="FFFF00"/>
                </a:highlight>
              </a:rPr>
              <a:t>with</a:t>
            </a:r>
            <a:r>
              <a:rPr lang="en-US" sz="2000" dirty="0"/>
              <a:t> him.”</a:t>
            </a:r>
            <a:endParaRPr lang="en-US" sz="2000" i="1" dirty="0"/>
          </a:p>
          <a:p>
            <a:r>
              <a:rPr lang="en-US" sz="2400" dirty="0"/>
              <a:t>Avoid over-use </a:t>
            </a:r>
            <a:r>
              <a:rPr lang="en-US" sz="2400" dirty="0">
                <a:highlight>
                  <a:srgbClr val="FFFF00"/>
                </a:highlight>
              </a:rPr>
              <a:t>of</a:t>
            </a:r>
            <a:r>
              <a:rPr lang="en-US" sz="2400" dirty="0"/>
              <a:t> prepositional phrases. </a:t>
            </a:r>
          </a:p>
          <a:p>
            <a:pPr marL="0" indent="0">
              <a:buNone/>
            </a:pPr>
            <a:r>
              <a:rPr lang="en-US" sz="2400" dirty="0"/>
              <a:t>A prepositional phrase is a preposition followed </a:t>
            </a:r>
            <a:r>
              <a:rPr lang="en-US" sz="2400" dirty="0">
                <a:highlight>
                  <a:srgbClr val="FFFF00"/>
                </a:highlight>
              </a:rPr>
              <a:t>by</a:t>
            </a:r>
            <a:r>
              <a:rPr lang="en-US" sz="2400" dirty="0"/>
              <a:t> its object, e.g. “</a:t>
            </a:r>
            <a:r>
              <a:rPr lang="en-US" sz="2400" dirty="0">
                <a:highlight>
                  <a:srgbClr val="FFFF00"/>
                </a:highlight>
              </a:rPr>
              <a:t>on</a:t>
            </a:r>
            <a:r>
              <a:rPr lang="en-US" sz="2400" dirty="0"/>
              <a:t> the house,” “</a:t>
            </a:r>
            <a:r>
              <a:rPr lang="en-US" sz="2400" dirty="0">
                <a:highlight>
                  <a:srgbClr val="FFFF00"/>
                </a:highlight>
              </a:rPr>
              <a:t>inside</a:t>
            </a:r>
            <a:r>
              <a:rPr lang="en-US" sz="2400" dirty="0"/>
              <a:t> the country,” “</a:t>
            </a:r>
            <a:r>
              <a:rPr lang="en-US" sz="2400" dirty="0">
                <a:highlight>
                  <a:srgbClr val="FFFF00"/>
                </a:highlight>
              </a:rPr>
              <a:t>toward</a:t>
            </a:r>
            <a:r>
              <a:rPr lang="en-US" sz="2400" dirty="0"/>
              <a:t> the end.” It is by no means wrong to use prepositional phrases, but careless use can make </a:t>
            </a:r>
            <a:r>
              <a:rPr lang="en-US" sz="2400" dirty="0">
                <a:highlight>
                  <a:srgbClr val="FFFF00"/>
                </a:highlight>
              </a:rPr>
              <a:t>for</a:t>
            </a:r>
            <a:r>
              <a:rPr lang="en-US" sz="2400" dirty="0"/>
              <a:t> clunky, unclear construction.</a:t>
            </a:r>
          </a:p>
          <a:p>
            <a:pPr marL="457200" lvl="1" indent="0">
              <a:buNone/>
            </a:pPr>
            <a:r>
              <a:rPr lang="en-US" sz="2000" i="1" dirty="0"/>
              <a:t>Bad</a:t>
            </a:r>
            <a:r>
              <a:rPr lang="en-US" sz="2000" dirty="0"/>
              <a:t>: “Economics papers are better </a:t>
            </a:r>
            <a:r>
              <a:rPr lang="en-US" sz="2000" dirty="0">
                <a:highlight>
                  <a:srgbClr val="FFFF00"/>
                </a:highlight>
              </a:rPr>
              <a:t>with</a:t>
            </a:r>
            <a:r>
              <a:rPr lang="en-US" sz="2000" dirty="0"/>
              <a:t> writing that is clear and concise.” </a:t>
            </a:r>
          </a:p>
          <a:p>
            <a:pPr marL="457200" lvl="1" indent="0">
              <a:buNone/>
            </a:pPr>
            <a:r>
              <a:rPr lang="en-US" sz="2000" i="1" dirty="0"/>
              <a:t>Good</a:t>
            </a:r>
            <a:r>
              <a:rPr lang="en-US" sz="2000" dirty="0"/>
              <a:t>: “Clear, concise writing makes </a:t>
            </a:r>
            <a:r>
              <a:rPr lang="en-US" sz="2000" dirty="0">
                <a:highlight>
                  <a:srgbClr val="FFFF00"/>
                </a:highlight>
              </a:rPr>
              <a:t>for</a:t>
            </a:r>
            <a:r>
              <a:rPr lang="en-US" sz="2000" dirty="0"/>
              <a:t> better economics papers.”</a:t>
            </a:r>
          </a:p>
          <a:p>
            <a:pPr marL="457200" lvl="1" indent="0">
              <a:buNone/>
            </a:pPr>
            <a:r>
              <a:rPr lang="en-US" sz="2000" b="1" dirty="0"/>
              <a:t>Note here the elimination </a:t>
            </a:r>
            <a:r>
              <a:rPr lang="en-US" sz="2000" b="1" dirty="0">
                <a:highlight>
                  <a:srgbClr val="FFFF00"/>
                </a:highlight>
              </a:rPr>
              <a:t>of</a:t>
            </a:r>
            <a:r>
              <a:rPr lang="en-US" sz="2000" b="1" dirty="0"/>
              <a:t> the prepositional phrase, “</a:t>
            </a:r>
            <a:r>
              <a:rPr lang="en-US" sz="2000" b="1" dirty="0">
                <a:highlight>
                  <a:srgbClr val="FFFF00"/>
                </a:highlight>
              </a:rPr>
              <a:t>with</a:t>
            </a:r>
            <a:r>
              <a:rPr lang="en-US" sz="2000" b="1" dirty="0"/>
              <a:t> writing…” and the change </a:t>
            </a:r>
            <a:r>
              <a:rPr lang="en-US" sz="2000" b="1" dirty="0">
                <a:highlight>
                  <a:srgbClr val="FFFF00"/>
                </a:highlight>
              </a:rPr>
              <a:t>of</a:t>
            </a:r>
            <a:r>
              <a:rPr lang="en-US" sz="2000" b="1" dirty="0"/>
              <a:t> “writing” </a:t>
            </a:r>
            <a:r>
              <a:rPr lang="en-US" sz="2000" b="1" dirty="0">
                <a:highlight>
                  <a:srgbClr val="FFFF00"/>
                </a:highlight>
              </a:rPr>
              <a:t>from</a:t>
            </a:r>
            <a:r>
              <a:rPr lang="en-US" sz="2000" b="1" dirty="0"/>
              <a:t> the </a:t>
            </a:r>
            <a:r>
              <a:rPr lang="en-US" sz="2000" b="1" i="1" dirty="0"/>
              <a:t>object</a:t>
            </a:r>
            <a:r>
              <a:rPr lang="en-US" sz="2000" b="1" dirty="0"/>
              <a:t> </a:t>
            </a:r>
            <a:r>
              <a:rPr lang="en-US" sz="2000" b="1" dirty="0">
                <a:highlight>
                  <a:srgbClr val="FFFF00"/>
                </a:highlight>
              </a:rPr>
              <a:t>of</a:t>
            </a:r>
            <a:r>
              <a:rPr lang="en-US" sz="2000" b="1" dirty="0"/>
              <a:t> a prepositional phrase </a:t>
            </a:r>
            <a:r>
              <a:rPr lang="en-US" sz="2000" b="1" dirty="0">
                <a:highlight>
                  <a:srgbClr val="FFFF00"/>
                </a:highlight>
              </a:rPr>
              <a:t>to</a:t>
            </a:r>
            <a:r>
              <a:rPr lang="en-US" sz="2000" b="1" dirty="0"/>
              <a:t> the </a:t>
            </a:r>
            <a:r>
              <a:rPr lang="en-US" sz="2000" b="1" i="1" dirty="0"/>
              <a:t>subject</a:t>
            </a:r>
            <a:r>
              <a:rPr lang="en-US" sz="2000" b="1" dirty="0"/>
              <a:t> </a:t>
            </a:r>
            <a:r>
              <a:rPr lang="en-US" sz="2000" b="1" dirty="0">
                <a:highlight>
                  <a:srgbClr val="FFFF00"/>
                </a:highlight>
              </a:rPr>
              <a:t>of</a:t>
            </a:r>
            <a:r>
              <a:rPr lang="en-US" sz="2000" b="1" dirty="0"/>
              <a:t> the sentence. </a:t>
            </a:r>
          </a:p>
          <a:p>
            <a:pPr marL="457200" lvl="1" indent="0">
              <a:buNone/>
            </a:pPr>
            <a:endParaRPr lang="en-US" sz="2000" i="1" dirty="0"/>
          </a:p>
        </p:txBody>
      </p:sp>
    </p:spTree>
    <p:extLst>
      <p:ext uri="{BB962C8B-B14F-4D97-AF65-F5344CB8AC3E}">
        <p14:creationId xmlns:p14="http://schemas.microsoft.com/office/powerpoint/2010/main" val="27157784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Participles and Gerunds</a:t>
            </a:r>
          </a:p>
        </p:txBody>
      </p:sp>
      <p:sp>
        <p:nvSpPr>
          <p:cNvPr id="3" name="Content Placeholder 2"/>
          <p:cNvSpPr>
            <a:spLocks noGrp="1"/>
          </p:cNvSpPr>
          <p:nvPr>
            <p:ph idx="1"/>
          </p:nvPr>
        </p:nvSpPr>
        <p:spPr/>
        <p:txBody>
          <a:bodyPr/>
          <a:lstStyle/>
          <a:p>
            <a:pPr marL="0" indent="0">
              <a:buNone/>
            </a:pPr>
            <a:r>
              <a:rPr lang="en-US" dirty="0"/>
              <a:t>Participles and gerunds are the </a:t>
            </a:r>
            <a:r>
              <a:rPr lang="en-US" i="1" dirty="0"/>
              <a:t>–</a:t>
            </a:r>
            <a:r>
              <a:rPr lang="en-US" i="1" dirty="0" err="1"/>
              <a:t>ing</a:t>
            </a:r>
            <a:r>
              <a:rPr lang="en-US" i="1" dirty="0"/>
              <a:t> </a:t>
            </a:r>
            <a:r>
              <a:rPr lang="en-US" dirty="0"/>
              <a:t>forms of verbs. They transform verb tense, as in present active participle (“He is </a:t>
            </a:r>
            <a:r>
              <a:rPr lang="en-US" i="1" dirty="0"/>
              <a:t>running</a:t>
            </a:r>
            <a:r>
              <a:rPr lang="en-US" dirty="0"/>
              <a:t> for President”) or transform verbs into nouns as in the gerund (“</a:t>
            </a:r>
            <a:r>
              <a:rPr lang="en-US" i="1" dirty="0"/>
              <a:t>Running</a:t>
            </a:r>
            <a:r>
              <a:rPr lang="en-US" dirty="0"/>
              <a:t> is my favorite hobby.”) There is nothing wrong with using participles or gerunds, but they are often used clumsily and avoiding them altogether can make sentences clearer and more concise.</a:t>
            </a:r>
          </a:p>
          <a:p>
            <a:pPr marL="290513" indent="0">
              <a:buNone/>
            </a:pPr>
            <a:r>
              <a:rPr lang="en-US" sz="2400" i="1" dirty="0"/>
              <a:t>Bad</a:t>
            </a:r>
            <a:r>
              <a:rPr lang="en-US" sz="2400" dirty="0"/>
              <a:t>: “Free trade is allowing for countries having a higher standard of living.”</a:t>
            </a:r>
          </a:p>
          <a:p>
            <a:pPr marL="290513" indent="0">
              <a:buNone/>
            </a:pPr>
            <a:r>
              <a:rPr lang="en-US" sz="2400" i="1" dirty="0"/>
              <a:t>Good</a:t>
            </a:r>
            <a:r>
              <a:rPr lang="en-US" sz="2400" dirty="0"/>
              <a:t>: “Free trade allows countries to have a higher standard of living.”</a:t>
            </a:r>
          </a:p>
        </p:txBody>
      </p:sp>
    </p:spTree>
    <p:extLst>
      <p:ext uri="{BB962C8B-B14F-4D97-AF65-F5344CB8AC3E}">
        <p14:creationId xmlns:p14="http://schemas.microsoft.com/office/powerpoint/2010/main" val="27688737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Participial Phrases and Dangling Participles</a:t>
            </a:r>
          </a:p>
        </p:txBody>
      </p:sp>
      <p:sp>
        <p:nvSpPr>
          <p:cNvPr id="3" name="Content Placeholder 2"/>
          <p:cNvSpPr>
            <a:spLocks noGrp="1"/>
          </p:cNvSpPr>
          <p:nvPr>
            <p:ph idx="1"/>
          </p:nvPr>
        </p:nvSpPr>
        <p:spPr>
          <a:xfrm>
            <a:off x="838200" y="1825625"/>
            <a:ext cx="10515600" cy="4492048"/>
          </a:xfrm>
        </p:spPr>
        <p:txBody>
          <a:bodyPr>
            <a:normAutofit fontScale="85000" lnSpcReduction="20000"/>
          </a:bodyPr>
          <a:lstStyle/>
          <a:p>
            <a:pPr marL="0" indent="0">
              <a:buNone/>
            </a:pPr>
            <a:r>
              <a:rPr lang="en-US" dirty="0"/>
              <a:t>A participial phrase is simply a participle followed by its object: “Grading economics papers…” Such phrases are not inherently evil, but they can be easily misused. Avoid them whenever possible to enhance clarity.</a:t>
            </a:r>
          </a:p>
          <a:p>
            <a:pPr marL="234950" indent="0">
              <a:buNone/>
            </a:pPr>
            <a:r>
              <a:rPr lang="en-US" sz="2400" i="1" dirty="0"/>
              <a:t>Bad</a:t>
            </a:r>
            <a:r>
              <a:rPr lang="en-US" sz="2400" dirty="0"/>
              <a:t>: “Going back to the thesis, economics teaches that prices are formed strictly by supply and demand, not by mere chance.”</a:t>
            </a:r>
          </a:p>
          <a:p>
            <a:pPr marL="234950" indent="0">
              <a:buNone/>
            </a:pPr>
            <a:r>
              <a:rPr lang="en-US" sz="2400" i="1" dirty="0"/>
              <a:t>Good</a:t>
            </a:r>
            <a:r>
              <a:rPr lang="en-US" sz="2400" dirty="0"/>
              <a:t>: “As the thesis suggests, economics teaches that prices are formed by supply and demand and not merely by chance.”</a:t>
            </a:r>
          </a:p>
          <a:p>
            <a:pPr marL="0" indent="0">
              <a:buNone/>
            </a:pPr>
            <a:r>
              <a:rPr lang="en-US" dirty="0"/>
              <a:t>Dangling participles are participial phrases that modify an absent subject: “Doing much better, we decided not to visit him in the hospital.” Who is doing better—the potential visitors, or the patient? In this case the participial phrase causes confusion and should be fixed or omitted. “He was recovering, so we decided not to visit him in the hospital.”</a:t>
            </a:r>
          </a:p>
          <a:p>
            <a:pPr marL="234950" indent="0">
              <a:buNone/>
            </a:pPr>
            <a:r>
              <a:rPr lang="en-US" sz="2600" i="1" dirty="0"/>
              <a:t>Bad</a:t>
            </a:r>
            <a:r>
              <a:rPr lang="en-US" sz="2600" dirty="0"/>
              <a:t>: “Constantly running without shoes, it is obvious his feet would get sore.”</a:t>
            </a:r>
          </a:p>
          <a:p>
            <a:pPr marL="234950" indent="0">
              <a:buNone/>
            </a:pPr>
            <a:r>
              <a:rPr lang="en-US" sz="2600" i="1" dirty="0"/>
              <a:t>Good</a:t>
            </a:r>
            <a:r>
              <a:rPr lang="en-US" sz="2600" dirty="0"/>
              <a:t>: “Running without shoes obviously made his feet constantly sore.”</a:t>
            </a:r>
          </a:p>
          <a:p>
            <a:pPr marL="234950" indent="0">
              <a:buNone/>
            </a:pPr>
            <a:r>
              <a:rPr lang="en-US" sz="2600" i="1" dirty="0"/>
              <a:t>Best</a:t>
            </a:r>
            <a:r>
              <a:rPr lang="en-US" sz="2600" dirty="0"/>
              <a:t>: “He regularly ran without shoes, and thus his feet were always sore.” </a:t>
            </a:r>
            <a:endParaRPr lang="en-US" sz="2600" i="1" dirty="0"/>
          </a:p>
        </p:txBody>
      </p:sp>
    </p:spTree>
    <p:extLst>
      <p:ext uri="{BB962C8B-B14F-4D97-AF65-F5344CB8AC3E}">
        <p14:creationId xmlns:p14="http://schemas.microsoft.com/office/powerpoint/2010/main" val="29646344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Incomplete and Run-On Sentences</a:t>
            </a:r>
          </a:p>
        </p:txBody>
      </p:sp>
      <p:sp>
        <p:nvSpPr>
          <p:cNvPr id="3" name="Content Placeholder 2"/>
          <p:cNvSpPr>
            <a:spLocks noGrp="1"/>
          </p:cNvSpPr>
          <p:nvPr>
            <p:ph idx="1"/>
          </p:nvPr>
        </p:nvSpPr>
        <p:spPr>
          <a:xfrm>
            <a:off x="838200" y="1825625"/>
            <a:ext cx="10515600" cy="4852266"/>
          </a:xfrm>
        </p:spPr>
        <p:txBody>
          <a:bodyPr>
            <a:normAutofit fontScale="85000" lnSpcReduction="20000"/>
          </a:bodyPr>
          <a:lstStyle/>
          <a:p>
            <a:pPr marL="0" indent="0">
              <a:buNone/>
            </a:pPr>
            <a:r>
              <a:rPr lang="en-US" dirty="0"/>
              <a:t>Every sentence must have a subject and a verb (“He runs.”); academic writing calls for clear subject-verb-object form (“He runs marathons.”). If a group of words lacks a subject or verb, it is not a sentence, but an “incomplete sentence.” (Incomplete sentences typically lack a verb rather than a subject. </a:t>
            </a:r>
          </a:p>
          <a:p>
            <a:pPr marL="290513" indent="0">
              <a:buNone/>
            </a:pPr>
            <a:r>
              <a:rPr lang="en-US" sz="2400" i="1" dirty="0"/>
              <a:t>Incomplete</a:t>
            </a:r>
            <a:r>
              <a:rPr lang="en-US" sz="2400" dirty="0"/>
              <a:t>: “Primarily, the overpaid executives without good morals.”</a:t>
            </a:r>
          </a:p>
          <a:p>
            <a:pPr marL="290513" indent="0">
              <a:buNone/>
            </a:pPr>
            <a:r>
              <a:rPr lang="en-US" sz="2400" i="1" dirty="0"/>
              <a:t>Sentence</a:t>
            </a:r>
            <a:r>
              <a:rPr lang="en-US" sz="2400" dirty="0"/>
              <a:t>: “The main culprits </a:t>
            </a:r>
            <a:r>
              <a:rPr lang="en-US" sz="2400" dirty="0">
                <a:highlight>
                  <a:srgbClr val="FFFF00"/>
                </a:highlight>
              </a:rPr>
              <a:t>were</a:t>
            </a:r>
            <a:r>
              <a:rPr lang="en-US" sz="2400" dirty="0"/>
              <a:t> the unscrupulous, overpaid executives.” </a:t>
            </a:r>
          </a:p>
          <a:p>
            <a:pPr marL="0" indent="0">
              <a:buNone/>
            </a:pPr>
            <a:r>
              <a:rPr lang="en-US" dirty="0"/>
              <a:t>While there is no fixed limit on sentence length, sentences can easily become unclear if they run beyond 30 or 40 words. Keep sentences clear and concise by avoiding excessive use of dependent clauses and appositives (see next two slides)</a:t>
            </a:r>
          </a:p>
          <a:p>
            <a:pPr marL="0" indent="0">
              <a:buNone/>
            </a:pPr>
            <a:r>
              <a:rPr lang="en-US" sz="2400" i="1" dirty="0"/>
              <a:t>Run-On</a:t>
            </a:r>
            <a:r>
              <a:rPr lang="en-US" sz="2400" dirty="0"/>
              <a:t>: “With the lifting of the Iron Curtain the Soviets, who had ruled Eastern Europe in a harsh, dictatorial fashion, often spying on local citizens, locking up dissidents and even murdering political opponents, were forced to retreat leaving chaos and a political vacuum in their wake that had to be filled by the strongest local political organizations which the United States and its allies were attempting to help by funneling aid ranging from translated books on democracy to academics and policy experts who were flown in to help transitioning national governments form and create free, representative governments in these places which had formerly known only dictatorship and repression.”</a:t>
            </a:r>
            <a:endParaRPr lang="en-US" sz="2400" i="1" dirty="0"/>
          </a:p>
        </p:txBody>
      </p:sp>
    </p:spTree>
    <p:extLst>
      <p:ext uri="{BB962C8B-B14F-4D97-AF65-F5344CB8AC3E}">
        <p14:creationId xmlns:p14="http://schemas.microsoft.com/office/powerpoint/2010/main" val="26598789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Clauses</a:t>
            </a:r>
          </a:p>
        </p:txBody>
      </p:sp>
      <p:sp>
        <p:nvSpPr>
          <p:cNvPr id="3" name="Content Placeholder 2"/>
          <p:cNvSpPr>
            <a:spLocks noGrp="1"/>
          </p:cNvSpPr>
          <p:nvPr>
            <p:ph idx="1"/>
          </p:nvPr>
        </p:nvSpPr>
        <p:spPr>
          <a:xfrm>
            <a:off x="838200" y="1551708"/>
            <a:ext cx="10515600" cy="5306292"/>
          </a:xfrm>
        </p:spPr>
        <p:txBody>
          <a:bodyPr>
            <a:normAutofit fontScale="85000" lnSpcReduction="20000"/>
          </a:bodyPr>
          <a:lstStyle/>
          <a:p>
            <a:pPr marL="0" indent="0">
              <a:buNone/>
            </a:pPr>
            <a:r>
              <a:rPr lang="en-US" dirty="0"/>
              <a:t>A clause is a semi-sentence—a group of words with a subject, verb, and object. Note: a group of words without a subject </a:t>
            </a:r>
            <a:r>
              <a:rPr lang="en-US" i="1" dirty="0"/>
              <a:t>and</a:t>
            </a:r>
            <a:r>
              <a:rPr lang="en-US" dirty="0"/>
              <a:t> verb is just a phrase: “The man upstairs” (subject, no verb); “Run for fun” (verb, no subject). There are two kinds of clauses:</a:t>
            </a:r>
          </a:p>
          <a:p>
            <a:r>
              <a:rPr lang="en-US" dirty="0"/>
              <a:t>Independent clause, which </a:t>
            </a:r>
            <a:r>
              <a:rPr lang="en-US" i="1" dirty="0"/>
              <a:t>can</a:t>
            </a:r>
            <a:r>
              <a:rPr lang="en-US" dirty="0"/>
              <a:t> stand alone as a complete sentence.</a:t>
            </a:r>
          </a:p>
          <a:p>
            <a:pPr marL="457200" lvl="1" indent="0">
              <a:buNone/>
            </a:pPr>
            <a:r>
              <a:rPr lang="en-US" dirty="0"/>
              <a:t>“The dishwasher was running.”</a:t>
            </a:r>
          </a:p>
          <a:p>
            <a:pPr marL="457200" lvl="1" indent="0">
              <a:buNone/>
            </a:pPr>
            <a:r>
              <a:rPr lang="en-US" dirty="0"/>
              <a:t>“He became President.”</a:t>
            </a:r>
          </a:p>
          <a:p>
            <a:r>
              <a:rPr lang="en-US" dirty="0"/>
              <a:t>Dependent clause, which </a:t>
            </a:r>
            <a:r>
              <a:rPr lang="en-US" i="1" dirty="0"/>
              <a:t>cannot </a:t>
            </a:r>
            <a:r>
              <a:rPr lang="en-US" dirty="0"/>
              <a:t>stand alone as a complete sentence. A dependent clause typically begins with a “subordinating conjunction” (if, when, because, etc.) and must be joined to an independent clause. </a:t>
            </a:r>
          </a:p>
          <a:p>
            <a:pPr marL="346075" indent="0">
              <a:buNone/>
            </a:pPr>
            <a:r>
              <a:rPr lang="en-US" sz="2400" dirty="0"/>
              <a:t>“Because the dishwasher was running, the rest of us could not take a shower.”</a:t>
            </a:r>
          </a:p>
          <a:p>
            <a:pPr marL="401638" indent="0">
              <a:buNone/>
            </a:pPr>
            <a:r>
              <a:rPr lang="en-US" sz="2400" dirty="0"/>
              <a:t>“The economy entered into recession after he became President.” </a:t>
            </a:r>
          </a:p>
          <a:p>
            <a:r>
              <a:rPr lang="en-US" dirty="0"/>
              <a:t>Joining Independent Clauses: Two independent clauses may be joined by the use of a semicolon or a conjunction such as </a:t>
            </a:r>
            <a:r>
              <a:rPr lang="en-US" i="1" dirty="0"/>
              <a:t>and, because, therefore, so</a:t>
            </a:r>
            <a:r>
              <a:rPr lang="en-US" dirty="0"/>
              <a:t>, etc. No comma or semicolon is needed when joining independent clauses by use of a conjunction</a:t>
            </a:r>
          </a:p>
          <a:p>
            <a:pPr marL="457200" lvl="1" indent="0">
              <a:buNone/>
            </a:pPr>
            <a:r>
              <a:rPr lang="en-US" dirty="0"/>
              <a:t>“He became President and the economy entered into recession.”</a:t>
            </a:r>
          </a:p>
          <a:p>
            <a:pPr marL="401638" indent="0">
              <a:buNone/>
            </a:pPr>
            <a:endParaRPr lang="en-US" dirty="0"/>
          </a:p>
        </p:txBody>
      </p:sp>
    </p:spTree>
    <p:extLst>
      <p:ext uri="{BB962C8B-B14F-4D97-AF65-F5344CB8AC3E}">
        <p14:creationId xmlns:p14="http://schemas.microsoft.com/office/powerpoint/2010/main" val="12266840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Slang, Idiom, and Argot</a:t>
            </a:r>
          </a:p>
        </p:txBody>
      </p:sp>
      <p:sp>
        <p:nvSpPr>
          <p:cNvPr id="3" name="Content Placeholder 2"/>
          <p:cNvSpPr>
            <a:spLocks noGrp="1"/>
          </p:cNvSpPr>
          <p:nvPr>
            <p:ph idx="1"/>
          </p:nvPr>
        </p:nvSpPr>
        <p:spPr/>
        <p:txBody>
          <a:bodyPr>
            <a:normAutofit lnSpcReduction="10000"/>
          </a:bodyPr>
          <a:lstStyle/>
          <a:p>
            <a:pPr marL="0" indent="0">
              <a:buNone/>
            </a:pPr>
            <a:r>
              <a:rPr lang="en-US" dirty="0"/>
              <a:t>Avoid slang (informal terms and neologisms), idiomatic expressions that your target audience might not recognize, and argot—expressions known only to a particular group. Academic writing should be formal, clear, and accessible to anyone with a basic education.</a:t>
            </a:r>
          </a:p>
          <a:p>
            <a:pPr marL="0" indent="0">
              <a:buNone/>
            </a:pPr>
            <a:endParaRPr lang="en-US" dirty="0"/>
          </a:p>
          <a:p>
            <a:pPr marL="0" indent="0">
              <a:buNone/>
            </a:pPr>
            <a:r>
              <a:rPr lang="en-US" sz="2400" i="1" dirty="0"/>
              <a:t>Bad</a:t>
            </a:r>
            <a:r>
              <a:rPr lang="en-US" sz="2400" dirty="0"/>
              <a:t>: “The alpha chi shindig was totes fab.”</a:t>
            </a:r>
          </a:p>
          <a:p>
            <a:pPr marL="0" indent="0">
              <a:buNone/>
            </a:pPr>
            <a:r>
              <a:rPr lang="en-US" sz="2400" i="1" dirty="0"/>
              <a:t>Good</a:t>
            </a:r>
            <a:r>
              <a:rPr lang="en-US" sz="2400" dirty="0"/>
              <a:t>: “The alpha chi party was very fun.”</a:t>
            </a:r>
          </a:p>
          <a:p>
            <a:pPr marL="0" indent="0">
              <a:buNone/>
            </a:pPr>
            <a:endParaRPr lang="en-US" sz="2400" i="1" dirty="0"/>
          </a:p>
          <a:p>
            <a:pPr marL="0" indent="0">
              <a:buNone/>
            </a:pPr>
            <a:r>
              <a:rPr lang="en-US" sz="2400" i="1" dirty="0"/>
              <a:t>Bad</a:t>
            </a:r>
            <a:r>
              <a:rPr lang="en-US" sz="2400" dirty="0"/>
              <a:t>: “Curry was hugely impactful on the way the game was played.”</a:t>
            </a:r>
          </a:p>
          <a:p>
            <a:pPr marL="0" indent="0">
              <a:buNone/>
            </a:pPr>
            <a:r>
              <a:rPr lang="en-US" sz="2400" i="1" dirty="0"/>
              <a:t>Good</a:t>
            </a:r>
            <a:r>
              <a:rPr lang="en-US" sz="2400" dirty="0"/>
              <a:t>: “Curry exerted a strong influence on the way the game was played.”</a:t>
            </a:r>
            <a:endParaRPr lang="en-US" sz="2400" i="1" dirty="0"/>
          </a:p>
        </p:txBody>
      </p:sp>
    </p:spTree>
    <p:extLst>
      <p:ext uri="{BB962C8B-B14F-4D97-AF65-F5344CB8AC3E}">
        <p14:creationId xmlns:p14="http://schemas.microsoft.com/office/powerpoint/2010/main" val="10933261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6054</TotalTime>
  <Words>2935</Words>
  <Application>Microsoft Office PowerPoint</Application>
  <PresentationFormat>Widescreen</PresentationFormat>
  <Paragraphs>164</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Calibri Light</vt:lpstr>
      <vt:lpstr>Office Theme</vt:lpstr>
      <vt:lpstr>Overview</vt:lpstr>
      <vt:lpstr>Thesis Statement</vt:lpstr>
      <vt:lpstr>Thesis Statement Examples</vt:lpstr>
      <vt:lpstr>Outline</vt:lpstr>
      <vt:lpstr>Outline Example</vt:lpstr>
      <vt:lpstr>Topic Sentences</vt:lpstr>
      <vt:lpstr>Rewriting</vt:lpstr>
      <vt:lpstr>Style Guidelines</vt:lpstr>
      <vt:lpstr>Passive verb voice </vt:lpstr>
      <vt:lpstr>1st or 2nd person verb usage </vt:lpstr>
      <vt:lpstr>Comma Splices</vt:lpstr>
      <vt:lpstr>Apostrophe Rules</vt:lpstr>
      <vt:lpstr>Number Agreement</vt:lpstr>
      <vt:lpstr>Pronouns and Antecedents</vt:lpstr>
      <vt:lpstr>Prepositions [note: every preposition on this page is highlighted in yellow]</vt:lpstr>
      <vt:lpstr>Participles and Gerunds</vt:lpstr>
      <vt:lpstr>Participial Phrases and Dangling Participles</vt:lpstr>
      <vt:lpstr>Incomplete and Run-On Sentences</vt:lpstr>
      <vt:lpstr>Clauses</vt:lpstr>
      <vt:lpstr>Slang, Idiom, and Argot</vt:lpstr>
    </vt:vector>
  </TitlesOfParts>
  <Company>East Texas Baptist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MBAE 5302: Economics  and the Free Market</dc:title>
  <dc:creator>Tyler Watts</dc:creator>
  <cp:lastModifiedBy>Tyler A Watts</cp:lastModifiedBy>
  <cp:revision>43</cp:revision>
  <dcterms:created xsi:type="dcterms:W3CDTF">2016-06-22T17:51:10Z</dcterms:created>
  <dcterms:modified xsi:type="dcterms:W3CDTF">2022-11-03T13:03:05Z</dcterms:modified>
</cp:coreProperties>
</file>